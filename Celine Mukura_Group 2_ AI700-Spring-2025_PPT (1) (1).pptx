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2CF6EE-96C5-494F-9DDF-128D89AADF56}">
  <a:tblStyle styleId="{102CF6EE-96C5-494F-9DDF-128D89AADF5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25db8a19f_2_4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525db8a19f_2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25db8a19f_2_5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525db8a19f_2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25db8a19f_2_5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“Melanoma is a serious form of skin cancer that can spread rapidly if not detected early.”</a:t>
            </a:r>
            <a:endParaRPr/>
          </a:p>
          <a:p>
            <a:pPr indent="0" lvl="0" marL="0" rtl="0" algn="l">
              <a:spcBef>
                <a:spcPts val="0"/>
              </a:spcBef>
              <a:spcAft>
                <a:spcPts val="0"/>
              </a:spcAft>
              <a:buNone/>
            </a:pPr>
            <a:r>
              <a:rPr lang="en"/>
              <a:t>(You can also throw in a stat like: "It accounts for 75% of skin cancer deaths despite being less common.")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“Early detection can significantly improve survival rates, but manual diagnosis is often difficult and time-consuming.”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“Dermatologists use visual inspection and dermatoscopy, but even experienced professionals can find it hard to distinguish between certain lesion types.”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where Artificial Intelligence can help — by assisting in classifying skin lesions using medical images and patient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goal in this project is to build a deep learning model that can accurately classify different types of skin lesions, including melanoma, using both image and patient metadata.”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9" name="Google Shape;109;g3525db8a19f_2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25db8a19f_2_6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growing need for automated systems to assist in skin lesion detection, especially as skin cancer rates rise globally.”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model can help reduce the workload on dermatologists by acting as a second opinion tool — flagging high-risk cases for further review.”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also valuable in places where access to specialists is limited — for example, in rural areas or developing countries.”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“Since our model uses both image and patient data, it could be integrated into mobile apps or clinical decision support systems to assist in early diagnosis.”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can lead to earlier intervention, which significantly increases survival chances, particularly for melanoma.”</a:t>
            </a:r>
            <a:endParaRPr/>
          </a:p>
        </p:txBody>
      </p:sp>
      <p:sp>
        <p:nvSpPr>
          <p:cNvPr id="116" name="Google Shape;116;g3525db8a19f_2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25db8a19f_2_6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525db8a19f_2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25db8a19f_2_7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project, we used the HAM10000 dataset — a widely-used benchmark in skin lesion 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contains over 10,000 high-quality dermatoscopic images, labeled into 7 skin lesion categories, including melanoma, benign nevi, and others.”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image is also paired with metadata, including the patient’s age, sex, and body part where the lesion is located — which we later use in our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major challenge we identified early on was the class imbalance — for example, ‘melanocytic nevi’ made up the majority of the dataset, while rare classes like ‘vascular lesions’ had far fewer samples.”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on the slide, you can see sample lesion images and a bar chart showing the distribution of each class, which informed our data balancing strategy.”</a:t>
            </a:r>
            <a:endParaRPr/>
          </a:p>
        </p:txBody>
      </p:sp>
      <p:sp>
        <p:nvSpPr>
          <p:cNvPr id="131" name="Google Shape;131;g3525db8a19f_2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525db8a19f_0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training our model, we needed to clean and prepare the dataset. This involved handling missing values — we filled in missing age values with the median and assigned 'unknown' to missing sex and localization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created tabular features from the metadata. Age was scaled using StandardScaler, and sex and localization were converted into numerical format using one-hot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major challenge we encountered was class imbalance — some classes had thousands of images, while others had just a few hundred.”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address this, we used a mix of undersampling for overrepresented classes and data augmentation for underrepresented ones. Specifically, we applied random image rotations to generate new, synthetic samples.”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balanced the dataset so that each of the 7 classes had 1,500 images, resulting in a total of 10,500 samples — this helped reduce model bias and improved training stability.”</a:t>
            </a:r>
            <a:endParaRPr/>
          </a:p>
        </p:txBody>
      </p:sp>
      <p:sp>
        <p:nvSpPr>
          <p:cNvPr id="140" name="Google Shape;140;g3525db8a19f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525db8a19f_2_11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build our pipeline, we implemented several custom functions to manage the dataset and feed it into the model efficiently.”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get_image_path() function searches through two image directories to find and match each image ID from the metadata. This ensures we load the correct file paths for every sample.”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created a function called rotate_image() that randomly rotates images by small angles — this was key for our augmentation strategy when oversampling underrepresented classes.”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developed a data_generator() function to load batches during training. Since our model takes both images and tabular data, this generator reads images, retrieves the corresponding tabular features, and formats them together in each batch.”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prepare the labels, we used LabelEncoder to convert the diagnosis strings into integers for training, which are then used in the softmax output layer.”</a:t>
            </a:r>
            <a:endParaRPr/>
          </a:p>
        </p:txBody>
      </p:sp>
      <p:sp>
        <p:nvSpPr>
          <p:cNvPr id="149" name="Google Shape;149;g3525db8a19f_2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25db8a19f_0_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“During this project, we encountered several real-world challenges that required thoughtful solutions.”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dataset was highly imbalanced — some classes had thousands of samples, others only a few hundred. To address this, we oversampled the minority classes using rotation-based augmentation and undersampled the dominant ones to balance the dataset.”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metadata fields like age and sex were missing for certain samples. We handled this by filling in missing ages with the median and using a placeholder value like ‘unknown’ for categorical fields, then encoded everything properly.”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“Combining image data with tabular features like age and localization was another challenge. To solve this, we built a custom multi-input neural network that could process both types of inputs in parallel.”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faced variability in image resolution and lighting. To ensure consistency, we resized all images to 224x224 and applied normalization. Dropout layers helped us minimize overfitting during training.”</a:t>
            </a:r>
            <a:endParaRPr/>
          </a:p>
        </p:txBody>
      </p:sp>
      <p:sp>
        <p:nvSpPr>
          <p:cNvPr id="158" name="Google Shape;158;g3525db8a19f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25db8a19f_0_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Model Architecture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Two‑Branch Multimodal CNN</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Image Branch</a:t>
            </a:r>
            <a:br>
              <a:rPr b="1" lang="en">
                <a:solidFill>
                  <a:schemeClr val="dk1"/>
                </a:solidFill>
              </a:rPr>
            </a:br>
            <a:endParaRPr b="1">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Input: 224 × 224 × 3 RGB images</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3 Conv Blocks:</a:t>
            </a:r>
            <a:br>
              <a:rPr lang="en">
                <a:solidFill>
                  <a:schemeClr val="dk1"/>
                </a:solidFill>
              </a:rPr>
            </a:br>
            <a:endParaRPr>
              <a:solidFill>
                <a:schemeClr val="dk1"/>
              </a:solidFill>
            </a:endParaRPr>
          </a:p>
          <a:p>
            <a:pPr indent="-298450" lvl="3" marL="1828800" rtl="0" algn="l">
              <a:lnSpc>
                <a:spcPct val="115000"/>
              </a:lnSpc>
              <a:spcBef>
                <a:spcPts val="0"/>
              </a:spcBef>
              <a:spcAft>
                <a:spcPts val="0"/>
              </a:spcAft>
              <a:buClr>
                <a:schemeClr val="dk1"/>
              </a:buClr>
              <a:buSzPts val="1100"/>
              <a:buChar char="■"/>
            </a:pPr>
            <a:r>
              <a:rPr lang="en">
                <a:solidFill>
                  <a:schemeClr val="dk1"/>
                </a:solidFill>
              </a:rPr>
              <a:t>Conv2D (32 filters, 3×3) → ReLU → MaxPool (2×2)</a:t>
            </a:r>
            <a:br>
              <a:rPr lang="en">
                <a:solidFill>
                  <a:schemeClr val="dk1"/>
                </a:solidFill>
              </a:rPr>
            </a:br>
            <a:endParaRPr>
              <a:solidFill>
                <a:schemeClr val="dk1"/>
              </a:solidFill>
            </a:endParaRPr>
          </a:p>
          <a:p>
            <a:pPr indent="-298450" lvl="3" marL="1828800" rtl="0" algn="l">
              <a:lnSpc>
                <a:spcPct val="115000"/>
              </a:lnSpc>
              <a:spcBef>
                <a:spcPts val="0"/>
              </a:spcBef>
              <a:spcAft>
                <a:spcPts val="0"/>
              </a:spcAft>
              <a:buClr>
                <a:schemeClr val="dk1"/>
              </a:buClr>
              <a:buSzPts val="1100"/>
              <a:buChar char="■"/>
            </a:pPr>
            <a:r>
              <a:rPr lang="en">
                <a:solidFill>
                  <a:schemeClr val="dk1"/>
                </a:solidFill>
              </a:rPr>
              <a:t>Conv2D (64 filters, 3×3) → ReLU → MaxPool (2×2)</a:t>
            </a:r>
            <a:br>
              <a:rPr lang="en">
                <a:solidFill>
                  <a:schemeClr val="dk1"/>
                </a:solidFill>
              </a:rPr>
            </a:br>
            <a:endParaRPr>
              <a:solidFill>
                <a:schemeClr val="dk1"/>
              </a:solidFill>
            </a:endParaRPr>
          </a:p>
          <a:p>
            <a:pPr indent="-298450" lvl="3" marL="1828800" rtl="0" algn="l">
              <a:lnSpc>
                <a:spcPct val="115000"/>
              </a:lnSpc>
              <a:spcBef>
                <a:spcPts val="0"/>
              </a:spcBef>
              <a:spcAft>
                <a:spcPts val="0"/>
              </a:spcAft>
              <a:buClr>
                <a:schemeClr val="dk1"/>
              </a:buClr>
              <a:buSzPts val="1100"/>
              <a:buChar char="■"/>
            </a:pPr>
            <a:r>
              <a:rPr lang="en">
                <a:solidFill>
                  <a:schemeClr val="dk1"/>
                </a:solidFill>
              </a:rPr>
              <a:t>Conv2D (128 filters, 3×3) → ReLU → MaxPool (2×2)</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Flatten to 1D feature vector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Tabular Branch</a:t>
            </a:r>
            <a:br>
              <a:rPr b="1" lang="en">
                <a:solidFill>
                  <a:schemeClr val="dk1"/>
                </a:solidFill>
              </a:rPr>
            </a:br>
            <a:endParaRPr b="1">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Input: M‑dimensional clinical metadata</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Dense(64) → ReLU → Dropout(0.3)</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Dense(32) → ReLU → Dropout(0.3)</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Fusion &amp; Classification Head</a:t>
            </a:r>
            <a:br>
              <a:rPr b="1" lang="en">
                <a:solidFill>
                  <a:schemeClr val="dk1"/>
                </a:solidFill>
              </a:rPr>
            </a:br>
            <a:endParaRPr b="1">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Concatenate image + tabular vectors</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Dense(128) → ReLU → Dropout(0.5)</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Dense(64) → ReLU</a:t>
            </a:r>
            <a:br>
              <a:rPr lang="en">
                <a:solidFill>
                  <a:schemeClr val="dk1"/>
                </a:solidFill>
              </a:rPr>
            </a:b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Output: Dense(C) → Softmax</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Training Details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Optimizer &amp; Loss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Adam optimizer (LR = 1 × 10⁻⁴)</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Categorical cross‑entropy loss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Batching &amp; Epochs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Batch size: 32</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Epochs: up to 20 with early stopping (patience = 5)</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Regularization &amp; Augmentation</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Image augmentations: random flips, ±15° rotations, brightness jitter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Dropout: 0.3 in tabular branch, 0.5 after fusion</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Class weights to handle label imbalance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Evaluation &amp; Monitoring</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Track validation loss &amp; accuracy each epoch</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Metrics: accuracy, recall (sensitivity), specificity, AUC</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Generate Grad‑CAM heatmaps for visual explainability</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Model performance was evaluated using accuracy, sensitivity (recall), specificity, and AUC on the held‑out validation set. Grad‑CAM visualizations were also generated post‑training to verify that the image branch focused on clinically relevant regions.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sz="1350">
                <a:solidFill>
                  <a:srgbClr val="EEF0FF"/>
                </a:solidFill>
                <a:highlight>
                  <a:srgbClr val="101218"/>
                </a:highlight>
              </a:rPr>
              <a:t>"batch size" refers to </a:t>
            </a:r>
            <a:r>
              <a:rPr lang="en" sz="1350">
                <a:solidFill>
                  <a:schemeClr val="dk1"/>
                </a:solidFill>
              </a:rPr>
              <a:t>the number of training examples a model processes before updating its internal parameters</a:t>
            </a:r>
            <a:endParaRPr sz="13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350">
                <a:solidFill>
                  <a:srgbClr val="EEF0FF"/>
                </a:solidFill>
                <a:highlight>
                  <a:srgbClr val="101218"/>
                </a:highlight>
              </a:rPr>
              <a:t>epoch refers to </a:t>
            </a:r>
            <a:r>
              <a:rPr lang="en" sz="1350">
                <a:solidFill>
                  <a:schemeClr val="dk1"/>
                </a:solidFill>
              </a:rPr>
              <a:t>one complete pass through the entire training dataset by the learning algorithm</a:t>
            </a:r>
            <a:endParaRPr sz="1350">
              <a:solidFill>
                <a:schemeClr val="dk1"/>
              </a:solidFill>
            </a:endParaRPr>
          </a:p>
          <a:p>
            <a:pPr indent="0" lvl="0" marL="0" rtl="0" algn="l">
              <a:spcBef>
                <a:spcPts val="1200"/>
              </a:spcBef>
              <a:spcAft>
                <a:spcPts val="0"/>
              </a:spcAft>
              <a:buNone/>
            </a:pPr>
            <a:r>
              <a:t/>
            </a:r>
            <a:endParaRPr/>
          </a:p>
        </p:txBody>
      </p:sp>
      <p:sp>
        <p:nvSpPr>
          <p:cNvPr id="165" name="Google Shape;165;g3525db8a19f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25db8a19f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trained our model for 20 epochs using our custom data generator, which ensured that both image and tabular data were fed in during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you can see from the training and validation accuracy plot, the model learned steadily over time. There was no sign of major overfitting, which means our data preprocessing and regularization worked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final validation accuracy was approximately 80%, which shows strong performance given the complexity of the classification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get a deeper understanding of how the model performs across different classes, we generated a confusion matrix. This helped us visualize which classes the model predicted well and which ones it had trouble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used a classification report to evaluate precision, recall, and F1-score. The model performed especially well on the more balanced classes and showed improvement on previously underrepresented ones due to our balancing strategy.”</a:t>
            </a:r>
            <a:endParaRPr/>
          </a:p>
        </p:txBody>
      </p:sp>
      <p:sp>
        <p:nvSpPr>
          <p:cNvPr id="175" name="Google Shape;175;g3525db8a19f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525db8a19f_0_4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seen how the model was built and trained, here’s a short clip showing our model in action.”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this example, we input a dermatoscopic image along with patient metadata — such as age, sex, and the lesion’s location on the 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processes both inputs and outputs the predicted lesion class along with a confidence score. This mimics how a diagnostic support tool could function in a real clinical setting.”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demonstration shows how our multi-input model can intelligently combine visual and contextual data to make more accurate predictions.”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“You’ll notice in the clip that the model is fast and responsive — which is promising for real-time or mobile-based deployments in the future.”</a:t>
            </a:r>
            <a:endParaRPr/>
          </a:p>
        </p:txBody>
      </p:sp>
      <p:sp>
        <p:nvSpPr>
          <p:cNvPr id="184" name="Google Shape;184;g3525db8a19f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525db8a19f_2_1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our team successfully built a deep learning model capable of classifying skin lesions into seven different classes, including melanoma.”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combining both image data and patient metadata, we created a multi-input model that mimics how a real dermatologist might consider multiple factors before diagnosis.”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tackled several technical challenges — like class imbalance and missing data — and used smart preprocessing and data augmentation to build a balanced and robust training set.”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also aim to improve the model using transfer learning with architectures like EfficientNet, and potentially deploy it to a mobile or web platform for real-world use in clinics or remote settings.”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2" name="Google Shape;192;g3525db8a19f_2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525db8a19f_2_132: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525db8a19f_2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25db8a19f_2_13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525db8a19f_2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56" name="Shape 56"/>
        <p:cNvGrpSpPr/>
        <p:nvPr/>
      </p:nvGrpSpPr>
      <p:grpSpPr>
        <a:xfrm>
          <a:off x="0" y="0"/>
          <a:ext cx="0" cy="0"/>
          <a:chOff x="0" y="0"/>
          <a:chExt cx="0" cy="0"/>
        </a:xfrm>
      </p:grpSpPr>
      <p:sp>
        <p:nvSpPr>
          <p:cNvPr id="57" name="Google Shape;57;p14"/>
          <p:cNvSpPr/>
          <p:nvPr/>
        </p:nvSpPr>
        <p:spPr>
          <a:xfrm>
            <a:off x="0" y="0"/>
            <a:ext cx="9144000" cy="2057400"/>
          </a:xfrm>
          <a:prstGeom prst="rect">
            <a:avLst/>
          </a:prstGeom>
          <a:solidFill>
            <a:srgbClr val="69B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1" u="none" cap="none" strike="noStrike">
              <a:solidFill>
                <a:schemeClr val="lt1"/>
              </a:solidFill>
              <a:latin typeface="Calibri"/>
              <a:ea typeface="Calibri"/>
              <a:cs typeface="Calibri"/>
              <a:sym typeface="Calibri"/>
            </a:endParaRPr>
          </a:p>
        </p:txBody>
      </p:sp>
      <p:pic>
        <p:nvPicPr>
          <p:cNvPr id="58" name="Google Shape;58;p14"/>
          <p:cNvPicPr preferRelativeResize="0"/>
          <p:nvPr/>
        </p:nvPicPr>
        <p:blipFill rotWithShape="1">
          <a:blip r:embed="rId2">
            <a:alphaModFix amt="20000"/>
          </a:blip>
          <a:srcRect b="0" l="0" r="0" t="0"/>
          <a:stretch/>
        </p:blipFill>
        <p:spPr>
          <a:xfrm>
            <a:off x="6236468" y="-128587"/>
            <a:ext cx="2307522" cy="2307522"/>
          </a:xfrm>
          <a:prstGeom prst="rect">
            <a:avLst/>
          </a:prstGeom>
          <a:noFill/>
          <a:ln>
            <a:noFill/>
          </a:ln>
        </p:spPr>
      </p:pic>
      <p:sp>
        <p:nvSpPr>
          <p:cNvPr id="59" name="Google Shape;59;p14"/>
          <p:cNvSpPr/>
          <p:nvPr/>
        </p:nvSpPr>
        <p:spPr>
          <a:xfrm>
            <a:off x="0" y="1988820"/>
            <a:ext cx="9144000" cy="6858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1" u="none" cap="none" strike="noStrike">
              <a:solidFill>
                <a:schemeClr val="lt1"/>
              </a:solidFill>
              <a:latin typeface="Calibri"/>
              <a:ea typeface="Calibri"/>
              <a:cs typeface="Calibri"/>
              <a:sym typeface="Calibri"/>
            </a:endParaRPr>
          </a:p>
        </p:txBody>
      </p:sp>
      <p:pic>
        <p:nvPicPr>
          <p:cNvPr id="60" name="Google Shape;60;p14"/>
          <p:cNvPicPr preferRelativeResize="0"/>
          <p:nvPr/>
        </p:nvPicPr>
        <p:blipFill rotWithShape="1">
          <a:blip r:embed="rId3">
            <a:alphaModFix/>
          </a:blip>
          <a:srcRect b="0" l="0" r="0" t="0"/>
          <a:stretch/>
        </p:blipFill>
        <p:spPr>
          <a:xfrm>
            <a:off x="5772150" y="4632051"/>
            <a:ext cx="2057400" cy="18237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1" name="Shape 61"/>
        <p:cNvGrpSpPr/>
        <p:nvPr/>
      </p:nvGrpSpPr>
      <p:grpSpPr>
        <a:xfrm>
          <a:off x="0" y="0"/>
          <a:ext cx="0" cy="0"/>
          <a:chOff x="0" y="0"/>
          <a:chExt cx="0" cy="0"/>
        </a:xfrm>
      </p:grpSpPr>
      <p:sp>
        <p:nvSpPr>
          <p:cNvPr id="62" name="Google Shape;62;p15"/>
          <p:cNvSpPr/>
          <p:nvPr/>
        </p:nvSpPr>
        <p:spPr>
          <a:xfrm>
            <a:off x="0" y="-1"/>
            <a:ext cx="9144000" cy="685801"/>
          </a:xfrm>
          <a:prstGeom prst="rect">
            <a:avLst/>
          </a:prstGeom>
          <a:solidFill>
            <a:srgbClr val="69B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63" name="Google Shape;63;p15"/>
          <p:cNvSpPr/>
          <p:nvPr/>
        </p:nvSpPr>
        <p:spPr>
          <a:xfrm>
            <a:off x="0" y="5006340"/>
            <a:ext cx="9144000" cy="13716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64" name="Google Shape;64;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Calibri"/>
                <a:ea typeface="Calibri"/>
                <a:cs typeface="Calibri"/>
                <a:sym typeface="Calibri"/>
              </a:defRPr>
            </a:lvl1pPr>
            <a:lvl2pPr indent="0" lvl="1" marL="0" algn="r">
              <a:spcBef>
                <a:spcPts val="0"/>
              </a:spcBef>
              <a:buNone/>
              <a:defRPr sz="1200">
                <a:solidFill>
                  <a:schemeClr val="dk1"/>
                </a:solidFill>
                <a:latin typeface="Calibri"/>
                <a:ea typeface="Calibri"/>
                <a:cs typeface="Calibri"/>
                <a:sym typeface="Calibri"/>
              </a:defRPr>
            </a:lvl2pPr>
            <a:lvl3pPr indent="0" lvl="2" marL="0" algn="r">
              <a:spcBef>
                <a:spcPts val="0"/>
              </a:spcBef>
              <a:buNone/>
              <a:defRPr sz="1200">
                <a:solidFill>
                  <a:schemeClr val="dk1"/>
                </a:solidFill>
                <a:latin typeface="Calibri"/>
                <a:ea typeface="Calibri"/>
                <a:cs typeface="Calibri"/>
                <a:sym typeface="Calibri"/>
              </a:defRPr>
            </a:lvl3pPr>
            <a:lvl4pPr indent="0" lvl="3" marL="0" algn="r">
              <a:spcBef>
                <a:spcPts val="0"/>
              </a:spcBef>
              <a:buNone/>
              <a:defRPr sz="1200">
                <a:solidFill>
                  <a:schemeClr val="dk1"/>
                </a:solidFill>
                <a:latin typeface="Calibri"/>
                <a:ea typeface="Calibri"/>
                <a:cs typeface="Calibri"/>
                <a:sym typeface="Calibri"/>
              </a:defRPr>
            </a:lvl4pPr>
            <a:lvl5pPr indent="0" lvl="4" marL="0" algn="r">
              <a:spcBef>
                <a:spcPts val="0"/>
              </a:spcBef>
              <a:buNone/>
              <a:defRPr sz="1200">
                <a:solidFill>
                  <a:schemeClr val="dk1"/>
                </a:solidFill>
                <a:latin typeface="Calibri"/>
                <a:ea typeface="Calibri"/>
                <a:cs typeface="Calibri"/>
                <a:sym typeface="Calibri"/>
              </a:defRPr>
            </a:lvl5pPr>
            <a:lvl6pPr indent="0" lvl="5" marL="0" algn="r">
              <a:spcBef>
                <a:spcPts val="0"/>
              </a:spcBef>
              <a:buNone/>
              <a:defRPr sz="1200">
                <a:solidFill>
                  <a:schemeClr val="dk1"/>
                </a:solidFill>
                <a:latin typeface="Calibri"/>
                <a:ea typeface="Calibri"/>
                <a:cs typeface="Calibri"/>
                <a:sym typeface="Calibri"/>
              </a:defRPr>
            </a:lvl6pPr>
            <a:lvl7pPr indent="0" lvl="6" marL="0" algn="r">
              <a:spcBef>
                <a:spcPts val="0"/>
              </a:spcBef>
              <a:buNone/>
              <a:defRPr sz="1200">
                <a:solidFill>
                  <a:schemeClr val="dk1"/>
                </a:solidFill>
                <a:latin typeface="Calibri"/>
                <a:ea typeface="Calibri"/>
                <a:cs typeface="Calibri"/>
                <a:sym typeface="Calibri"/>
              </a:defRPr>
            </a:lvl7pPr>
            <a:lvl8pPr indent="0" lvl="7" marL="0" algn="r">
              <a:spcBef>
                <a:spcPts val="0"/>
              </a:spcBef>
              <a:buNone/>
              <a:defRPr sz="1200">
                <a:solidFill>
                  <a:schemeClr val="dk1"/>
                </a:solidFill>
                <a:latin typeface="Calibri"/>
                <a:ea typeface="Calibri"/>
                <a:cs typeface="Calibri"/>
                <a:sym typeface="Calibri"/>
              </a:defRPr>
            </a:lvl8pPr>
            <a:lvl9pPr indent="0" lvl="8" mar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type="title"/>
          </p:nvPr>
        </p:nvSpPr>
        <p:spPr>
          <a:xfrm>
            <a:off x="628650" y="924877"/>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628650" y="2020252"/>
            <a:ext cx="7886700" cy="26075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7" name="Google Shape;67;p15"/>
          <p:cNvPicPr preferRelativeResize="0"/>
          <p:nvPr/>
        </p:nvPicPr>
        <p:blipFill rotWithShape="1">
          <a:blip r:embed="rId2">
            <a:alphaModFix/>
          </a:blip>
          <a:srcRect b="0" l="0" r="0" t="0"/>
          <a:stretch/>
        </p:blipFill>
        <p:spPr>
          <a:xfrm>
            <a:off x="7847355" y="241938"/>
            <a:ext cx="500997" cy="2019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16"/>
          <p:cNvSpPr txBox="1"/>
          <p:nvPr>
            <p:ph type="title"/>
          </p:nvPr>
        </p:nvSpPr>
        <p:spPr>
          <a:xfrm>
            <a:off x="629841" y="924877"/>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p:nvPr>
            <p:ph idx="2" type="pic"/>
          </p:nvPr>
        </p:nvSpPr>
        <p:spPr>
          <a:xfrm>
            <a:off x="3887391" y="924878"/>
            <a:ext cx="4629150" cy="3655219"/>
          </a:xfrm>
          <a:prstGeom prst="rect">
            <a:avLst/>
          </a:prstGeom>
          <a:noFill/>
          <a:ln>
            <a:noFill/>
          </a:ln>
        </p:spPr>
      </p:sp>
      <p:sp>
        <p:nvSpPr>
          <p:cNvPr id="71" name="Google Shape;71;p16"/>
          <p:cNvSpPr txBox="1"/>
          <p:nvPr>
            <p:ph idx="1" type="body"/>
          </p:nvPr>
        </p:nvSpPr>
        <p:spPr>
          <a:xfrm>
            <a:off x="629841" y="2244220"/>
            <a:ext cx="2949178" cy="233587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16"/>
          <p:cNvSpPr/>
          <p:nvPr/>
        </p:nvSpPr>
        <p:spPr>
          <a:xfrm>
            <a:off x="0" y="-1"/>
            <a:ext cx="9144000" cy="685801"/>
          </a:xfrm>
          <a:prstGeom prst="rect">
            <a:avLst/>
          </a:prstGeom>
          <a:solidFill>
            <a:srgbClr val="69B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73" name="Google Shape;73;p16"/>
          <p:cNvSpPr/>
          <p:nvPr/>
        </p:nvSpPr>
        <p:spPr>
          <a:xfrm>
            <a:off x="0" y="5006340"/>
            <a:ext cx="9144000" cy="13716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74" name="Google Shape;74;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Calibri"/>
                <a:ea typeface="Calibri"/>
                <a:cs typeface="Calibri"/>
                <a:sym typeface="Calibri"/>
              </a:defRPr>
            </a:lvl1pPr>
            <a:lvl2pPr indent="0" lvl="1" marL="0" algn="r">
              <a:spcBef>
                <a:spcPts val="0"/>
              </a:spcBef>
              <a:buNone/>
              <a:defRPr sz="1200">
                <a:solidFill>
                  <a:schemeClr val="dk1"/>
                </a:solidFill>
                <a:latin typeface="Calibri"/>
                <a:ea typeface="Calibri"/>
                <a:cs typeface="Calibri"/>
                <a:sym typeface="Calibri"/>
              </a:defRPr>
            </a:lvl2pPr>
            <a:lvl3pPr indent="0" lvl="2" marL="0" algn="r">
              <a:spcBef>
                <a:spcPts val="0"/>
              </a:spcBef>
              <a:buNone/>
              <a:defRPr sz="1200">
                <a:solidFill>
                  <a:schemeClr val="dk1"/>
                </a:solidFill>
                <a:latin typeface="Calibri"/>
                <a:ea typeface="Calibri"/>
                <a:cs typeface="Calibri"/>
                <a:sym typeface="Calibri"/>
              </a:defRPr>
            </a:lvl3pPr>
            <a:lvl4pPr indent="0" lvl="3" marL="0" algn="r">
              <a:spcBef>
                <a:spcPts val="0"/>
              </a:spcBef>
              <a:buNone/>
              <a:defRPr sz="1200">
                <a:solidFill>
                  <a:schemeClr val="dk1"/>
                </a:solidFill>
                <a:latin typeface="Calibri"/>
                <a:ea typeface="Calibri"/>
                <a:cs typeface="Calibri"/>
                <a:sym typeface="Calibri"/>
              </a:defRPr>
            </a:lvl4pPr>
            <a:lvl5pPr indent="0" lvl="4" marL="0" algn="r">
              <a:spcBef>
                <a:spcPts val="0"/>
              </a:spcBef>
              <a:buNone/>
              <a:defRPr sz="1200">
                <a:solidFill>
                  <a:schemeClr val="dk1"/>
                </a:solidFill>
                <a:latin typeface="Calibri"/>
                <a:ea typeface="Calibri"/>
                <a:cs typeface="Calibri"/>
                <a:sym typeface="Calibri"/>
              </a:defRPr>
            </a:lvl5pPr>
            <a:lvl6pPr indent="0" lvl="5" marL="0" algn="r">
              <a:spcBef>
                <a:spcPts val="0"/>
              </a:spcBef>
              <a:buNone/>
              <a:defRPr sz="1200">
                <a:solidFill>
                  <a:schemeClr val="dk1"/>
                </a:solidFill>
                <a:latin typeface="Calibri"/>
                <a:ea typeface="Calibri"/>
                <a:cs typeface="Calibri"/>
                <a:sym typeface="Calibri"/>
              </a:defRPr>
            </a:lvl6pPr>
            <a:lvl7pPr indent="0" lvl="6" marL="0" algn="r">
              <a:spcBef>
                <a:spcPts val="0"/>
              </a:spcBef>
              <a:buNone/>
              <a:defRPr sz="1200">
                <a:solidFill>
                  <a:schemeClr val="dk1"/>
                </a:solidFill>
                <a:latin typeface="Calibri"/>
                <a:ea typeface="Calibri"/>
                <a:cs typeface="Calibri"/>
                <a:sym typeface="Calibri"/>
              </a:defRPr>
            </a:lvl7pPr>
            <a:lvl8pPr indent="0" lvl="7" marL="0" algn="r">
              <a:spcBef>
                <a:spcPts val="0"/>
              </a:spcBef>
              <a:buNone/>
              <a:defRPr sz="1200">
                <a:solidFill>
                  <a:schemeClr val="dk1"/>
                </a:solidFill>
                <a:latin typeface="Calibri"/>
                <a:ea typeface="Calibri"/>
                <a:cs typeface="Calibri"/>
                <a:sym typeface="Calibri"/>
              </a:defRPr>
            </a:lvl8pPr>
            <a:lvl9pPr indent="0" lvl="8" mar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pic>
        <p:nvPicPr>
          <p:cNvPr id="75" name="Google Shape;75;p16"/>
          <p:cNvPicPr preferRelativeResize="0"/>
          <p:nvPr/>
        </p:nvPicPr>
        <p:blipFill rotWithShape="1">
          <a:blip r:embed="rId2">
            <a:alphaModFix/>
          </a:blip>
          <a:srcRect b="0" l="0" r="0" t="0"/>
          <a:stretch/>
        </p:blipFill>
        <p:spPr>
          <a:xfrm>
            <a:off x="7847355" y="241938"/>
            <a:ext cx="500997" cy="20192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7"/>
          <p:cNvSpPr/>
          <p:nvPr/>
        </p:nvSpPr>
        <p:spPr>
          <a:xfrm>
            <a:off x="0" y="0"/>
            <a:ext cx="9144000" cy="5143500"/>
          </a:xfrm>
          <a:prstGeom prst="rect">
            <a:avLst/>
          </a:prstGeom>
          <a:solidFill>
            <a:srgbClr val="69B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81" name="Google Shape;81;p17"/>
          <p:cNvSpPr/>
          <p:nvPr/>
        </p:nvSpPr>
        <p:spPr>
          <a:xfrm>
            <a:off x="0" y="5006340"/>
            <a:ext cx="9144000" cy="13716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pic>
        <p:nvPicPr>
          <p:cNvPr id="82" name="Google Shape;82;p17"/>
          <p:cNvPicPr preferRelativeResize="0"/>
          <p:nvPr/>
        </p:nvPicPr>
        <p:blipFill rotWithShape="1">
          <a:blip r:embed="rId2">
            <a:alphaModFix/>
          </a:blip>
          <a:srcRect b="0" l="0" r="0" t="0"/>
          <a:stretch/>
        </p:blipFill>
        <p:spPr>
          <a:xfrm>
            <a:off x="7847355" y="241938"/>
            <a:ext cx="500997" cy="201923"/>
          </a:xfrm>
          <a:prstGeom prst="rect">
            <a:avLst/>
          </a:prstGeom>
          <a:noFill/>
          <a:ln>
            <a:noFill/>
          </a:ln>
        </p:spPr>
      </p:pic>
      <p:pic>
        <p:nvPicPr>
          <p:cNvPr id="83" name="Google Shape;83;p17"/>
          <p:cNvPicPr preferRelativeResize="0"/>
          <p:nvPr/>
        </p:nvPicPr>
        <p:blipFill rotWithShape="1">
          <a:blip r:embed="rId3">
            <a:alphaModFix amt="10000"/>
          </a:blip>
          <a:srcRect b="0" l="0" r="0" t="0"/>
          <a:stretch/>
        </p:blipFill>
        <p:spPr>
          <a:xfrm>
            <a:off x="-685800" y="-514350"/>
            <a:ext cx="4631321" cy="463132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sp>
        <p:nvSpPr>
          <p:cNvPr id="85" name="Google Shape;85;p18"/>
          <p:cNvSpPr txBox="1"/>
          <p:nvPr>
            <p:ph type="title"/>
          </p:nvPr>
        </p:nvSpPr>
        <p:spPr>
          <a:xfrm>
            <a:off x="628650" y="924877"/>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8"/>
          <p:cNvSpPr txBox="1"/>
          <p:nvPr>
            <p:ph idx="1" type="body"/>
          </p:nvPr>
        </p:nvSpPr>
        <p:spPr>
          <a:xfrm>
            <a:off x="628650" y="2020252"/>
            <a:ext cx="3886200" cy="26075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8"/>
          <p:cNvSpPr txBox="1"/>
          <p:nvPr>
            <p:ph idx="2" type="body"/>
          </p:nvPr>
        </p:nvSpPr>
        <p:spPr>
          <a:xfrm>
            <a:off x="4629150" y="2020252"/>
            <a:ext cx="3886200" cy="260754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1"/>
                </a:solidFill>
                <a:latin typeface="Calibri"/>
                <a:ea typeface="Calibri"/>
                <a:cs typeface="Calibri"/>
                <a:sym typeface="Calibri"/>
              </a:defRPr>
            </a:lvl1pPr>
            <a:lvl2pPr indent="0" lvl="1" marL="0" algn="r">
              <a:spcBef>
                <a:spcPts val="0"/>
              </a:spcBef>
              <a:buNone/>
              <a:defRPr sz="1200">
                <a:solidFill>
                  <a:schemeClr val="dk1"/>
                </a:solidFill>
                <a:latin typeface="Calibri"/>
                <a:ea typeface="Calibri"/>
                <a:cs typeface="Calibri"/>
                <a:sym typeface="Calibri"/>
              </a:defRPr>
            </a:lvl2pPr>
            <a:lvl3pPr indent="0" lvl="2" marL="0" algn="r">
              <a:spcBef>
                <a:spcPts val="0"/>
              </a:spcBef>
              <a:buNone/>
              <a:defRPr sz="1200">
                <a:solidFill>
                  <a:schemeClr val="dk1"/>
                </a:solidFill>
                <a:latin typeface="Calibri"/>
                <a:ea typeface="Calibri"/>
                <a:cs typeface="Calibri"/>
                <a:sym typeface="Calibri"/>
              </a:defRPr>
            </a:lvl3pPr>
            <a:lvl4pPr indent="0" lvl="3" marL="0" algn="r">
              <a:spcBef>
                <a:spcPts val="0"/>
              </a:spcBef>
              <a:buNone/>
              <a:defRPr sz="1200">
                <a:solidFill>
                  <a:schemeClr val="dk1"/>
                </a:solidFill>
                <a:latin typeface="Calibri"/>
                <a:ea typeface="Calibri"/>
                <a:cs typeface="Calibri"/>
                <a:sym typeface="Calibri"/>
              </a:defRPr>
            </a:lvl4pPr>
            <a:lvl5pPr indent="0" lvl="4" marL="0" algn="r">
              <a:spcBef>
                <a:spcPts val="0"/>
              </a:spcBef>
              <a:buNone/>
              <a:defRPr sz="1200">
                <a:solidFill>
                  <a:schemeClr val="dk1"/>
                </a:solidFill>
                <a:latin typeface="Calibri"/>
                <a:ea typeface="Calibri"/>
                <a:cs typeface="Calibri"/>
                <a:sym typeface="Calibri"/>
              </a:defRPr>
            </a:lvl5pPr>
            <a:lvl6pPr indent="0" lvl="5" marL="0" algn="r">
              <a:spcBef>
                <a:spcPts val="0"/>
              </a:spcBef>
              <a:buNone/>
              <a:defRPr sz="1200">
                <a:solidFill>
                  <a:schemeClr val="dk1"/>
                </a:solidFill>
                <a:latin typeface="Calibri"/>
                <a:ea typeface="Calibri"/>
                <a:cs typeface="Calibri"/>
                <a:sym typeface="Calibri"/>
              </a:defRPr>
            </a:lvl6pPr>
            <a:lvl7pPr indent="0" lvl="6" marL="0" algn="r">
              <a:spcBef>
                <a:spcPts val="0"/>
              </a:spcBef>
              <a:buNone/>
              <a:defRPr sz="1200">
                <a:solidFill>
                  <a:schemeClr val="dk1"/>
                </a:solidFill>
                <a:latin typeface="Calibri"/>
                <a:ea typeface="Calibri"/>
                <a:cs typeface="Calibri"/>
                <a:sym typeface="Calibri"/>
              </a:defRPr>
            </a:lvl7pPr>
            <a:lvl8pPr indent="0" lvl="7" marL="0" algn="r">
              <a:spcBef>
                <a:spcPts val="0"/>
              </a:spcBef>
              <a:buNone/>
              <a:defRPr sz="1200">
                <a:solidFill>
                  <a:schemeClr val="dk1"/>
                </a:solidFill>
                <a:latin typeface="Calibri"/>
                <a:ea typeface="Calibri"/>
                <a:cs typeface="Calibri"/>
                <a:sym typeface="Calibri"/>
              </a:defRPr>
            </a:lvl8pPr>
            <a:lvl9pPr indent="0" lvl="8" mar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0" y="-1"/>
            <a:ext cx="9144000" cy="685801"/>
          </a:xfrm>
          <a:prstGeom prst="rect">
            <a:avLst/>
          </a:prstGeom>
          <a:solidFill>
            <a:srgbClr val="69B3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sp>
        <p:nvSpPr>
          <p:cNvPr id="90" name="Google Shape;90;p18"/>
          <p:cNvSpPr/>
          <p:nvPr/>
        </p:nvSpPr>
        <p:spPr>
          <a:xfrm>
            <a:off x="0" y="5006340"/>
            <a:ext cx="9144000" cy="137160"/>
          </a:xfrm>
          <a:prstGeom prst="rect">
            <a:avLst/>
          </a:prstGeom>
          <a:solidFill>
            <a:srgbClr val="FFC7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Calibri"/>
              <a:ea typeface="Calibri"/>
              <a:cs typeface="Calibri"/>
              <a:sym typeface="Calibri"/>
            </a:endParaRPr>
          </a:p>
        </p:txBody>
      </p:sp>
      <p:pic>
        <p:nvPicPr>
          <p:cNvPr id="91" name="Google Shape;91;p18"/>
          <p:cNvPicPr preferRelativeResize="0"/>
          <p:nvPr/>
        </p:nvPicPr>
        <p:blipFill rotWithShape="1">
          <a:blip r:embed="rId2">
            <a:alphaModFix/>
          </a:blip>
          <a:srcRect b="0" l="0" r="0" t="0"/>
          <a:stretch/>
        </p:blipFill>
        <p:spPr>
          <a:xfrm>
            <a:off x="7847355" y="241938"/>
            <a:ext cx="500997" cy="2019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drive.google.com/file/d/1KiMgD-Oy_NmGEQTeHJQCxaxRnxt4jhds/view" TargetMode="Externa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s://www.cdc.gov/nccdphp/priorities/skin-cancer.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267587" y="718475"/>
            <a:ext cx="760110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FFFF"/>
              </a:buClr>
              <a:buSzPts val="2750"/>
              <a:buFont typeface="Calibri"/>
              <a:buNone/>
            </a:pPr>
            <a:r>
              <a:rPr b="1" lang="en" sz="3150">
                <a:solidFill>
                  <a:srgbClr val="FFFFFF"/>
                </a:solidFill>
                <a:latin typeface="Times New Roman"/>
                <a:ea typeface="Times New Roman"/>
                <a:cs typeface="Times New Roman"/>
                <a:sym typeface="Times New Roman"/>
              </a:rPr>
              <a:t>Skin Lesion Classification for Melanoma</a:t>
            </a:r>
            <a:endParaRPr b="1" i="0" sz="3150" u="none" cap="none" strike="noStrike">
              <a:solidFill>
                <a:srgbClr val="FFFFFF"/>
              </a:solidFill>
              <a:latin typeface="Times New Roman"/>
              <a:ea typeface="Times New Roman"/>
              <a:cs typeface="Times New Roman"/>
              <a:sym typeface="Times New Roman"/>
            </a:endParaRPr>
          </a:p>
        </p:txBody>
      </p:sp>
      <p:sp>
        <p:nvSpPr>
          <p:cNvPr id="97" name="Google Shape;97;p19"/>
          <p:cNvSpPr txBox="1"/>
          <p:nvPr/>
        </p:nvSpPr>
        <p:spPr>
          <a:xfrm>
            <a:off x="333900" y="12697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latin typeface="Times New Roman"/>
                <a:ea typeface="Times New Roman"/>
                <a:cs typeface="Times New Roman"/>
                <a:sym typeface="Times New Roman"/>
              </a:rPr>
              <a:t>Final Presentation</a:t>
            </a:r>
            <a:endParaRPr/>
          </a:p>
        </p:txBody>
      </p:sp>
      <p:pic>
        <p:nvPicPr>
          <p:cNvPr id="98" name="Google Shape;98;p19"/>
          <p:cNvPicPr preferRelativeResize="0"/>
          <p:nvPr/>
        </p:nvPicPr>
        <p:blipFill>
          <a:blip r:embed="rId3">
            <a:alphaModFix/>
          </a:blip>
          <a:stretch>
            <a:fillRect/>
          </a:stretch>
        </p:blipFill>
        <p:spPr>
          <a:xfrm>
            <a:off x="931900" y="2123225"/>
            <a:ext cx="2860175" cy="2860175"/>
          </a:xfrm>
          <a:prstGeom prst="rect">
            <a:avLst/>
          </a:prstGeom>
          <a:noFill/>
          <a:ln>
            <a:noFill/>
          </a:ln>
        </p:spPr>
      </p:pic>
      <p:sp>
        <p:nvSpPr>
          <p:cNvPr id="99" name="Google Shape;99;p19"/>
          <p:cNvSpPr txBox="1"/>
          <p:nvPr/>
        </p:nvSpPr>
        <p:spPr>
          <a:xfrm>
            <a:off x="4133331" y="3775725"/>
            <a:ext cx="47139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 sz="1400" u="none" cap="none" strike="noStrike">
                <a:solidFill>
                  <a:srgbClr val="000000"/>
                </a:solidFill>
                <a:latin typeface="Times New Roman"/>
                <a:ea typeface="Times New Roman"/>
                <a:cs typeface="Times New Roman"/>
                <a:sym typeface="Times New Roman"/>
              </a:rPr>
              <a:t>By: </a:t>
            </a:r>
            <a:r>
              <a:rPr lang="en">
                <a:solidFill>
                  <a:srgbClr val="000000"/>
                </a:solidFill>
                <a:latin typeface="Times New Roman"/>
                <a:ea typeface="Times New Roman"/>
                <a:cs typeface="Times New Roman"/>
                <a:sym typeface="Times New Roman"/>
              </a:rPr>
              <a:t>Alessandra, Celine, Eduardo, Maria, and Alejandro</a:t>
            </a:r>
            <a:endParaRPr>
              <a:latin typeface="Times New Roman"/>
              <a:ea typeface="Times New Roman"/>
              <a:cs typeface="Times New Roman"/>
              <a:sym typeface="Times New Roman"/>
            </a:endParaRPr>
          </a:p>
          <a:p>
            <a:pPr indent="0" lvl="0" marL="0" marR="0" rtl="0" algn="l">
              <a:spcBef>
                <a:spcPts val="0"/>
              </a:spcBef>
              <a:spcAft>
                <a:spcPts val="0"/>
              </a:spcAft>
              <a:buNone/>
            </a:pPr>
            <a:r>
              <a:rPr lang="en" sz="1400">
                <a:solidFill>
                  <a:srgbClr val="000000"/>
                </a:solidFill>
                <a:latin typeface="Times New Roman"/>
                <a:ea typeface="Times New Roman"/>
                <a:cs typeface="Times New Roman"/>
                <a:sym typeface="Times New Roman"/>
              </a:rPr>
              <a:t>Date: </a:t>
            </a:r>
            <a:r>
              <a:rPr lang="en">
                <a:solidFill>
                  <a:srgbClr val="000000"/>
                </a:solidFill>
                <a:latin typeface="Times New Roman"/>
                <a:ea typeface="Times New Roman"/>
                <a:cs typeface="Times New Roman"/>
                <a:sym typeface="Times New Roman"/>
              </a:rPr>
              <a:t>04/07</a:t>
            </a:r>
            <a:r>
              <a:rPr lang="en" sz="1400">
                <a:solidFill>
                  <a:srgbClr val="000000"/>
                </a:solidFill>
                <a:latin typeface="Times New Roman"/>
                <a:ea typeface="Times New Roman"/>
                <a:cs typeface="Times New Roman"/>
                <a:sym typeface="Times New Roman"/>
              </a:rPr>
              <a:t>/2025</a:t>
            </a:r>
            <a:endParaRPr>
              <a:latin typeface="Times New Roman"/>
              <a:ea typeface="Times New Roman"/>
              <a:cs typeface="Times New Roman"/>
              <a:sym typeface="Times New Roman"/>
            </a:endParaRPr>
          </a:p>
          <a:p>
            <a:pPr indent="0" lvl="0" marL="0" marR="0" rtl="0" algn="l">
              <a:spcBef>
                <a:spcPts val="0"/>
              </a:spcBef>
              <a:spcAft>
                <a:spcPts val="0"/>
              </a:spcAft>
              <a:buNone/>
            </a:pPr>
            <a:r>
              <a:rPr lang="en" sz="1400">
                <a:solidFill>
                  <a:srgbClr val="000000"/>
                </a:solidFill>
                <a:latin typeface="Times New Roman"/>
                <a:ea typeface="Times New Roman"/>
                <a:cs typeface="Times New Roman"/>
                <a:sym typeface="Times New Roman"/>
              </a:rPr>
              <a:t>AI_700_001_BK_SPRING2025</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body"/>
          </p:nvPr>
        </p:nvSpPr>
        <p:spPr>
          <a:xfrm>
            <a:off x="628650" y="842210"/>
            <a:ext cx="7886700" cy="3785585"/>
          </a:xfrm>
          <a:prstGeom prst="rect">
            <a:avLst/>
          </a:prstGeom>
          <a:noFill/>
          <a:ln>
            <a:noFill/>
          </a:ln>
        </p:spPr>
        <p:txBody>
          <a:bodyPr anchorCtr="0" anchor="t" bIns="45700" lIns="91425" spcFirstLastPara="1" rIns="91425" wrap="square" tIns="45700">
            <a:noAutofit/>
          </a:bodyPr>
          <a:lstStyle/>
          <a:p>
            <a:pPr indent="-280670" lvl="0" marL="457200" rtl="0" algn="l">
              <a:lnSpc>
                <a:spcPct val="70000"/>
              </a:lnSpc>
              <a:spcBef>
                <a:spcPts val="0"/>
              </a:spcBef>
              <a:spcAft>
                <a:spcPts val="0"/>
              </a:spcAft>
              <a:buSzPts val="820"/>
              <a:buChar char="•"/>
            </a:pPr>
            <a:r>
              <a:rPr lang="en" sz="1420">
                <a:latin typeface="Arial"/>
                <a:ea typeface="Arial"/>
                <a:cs typeface="Arial"/>
                <a:sym typeface="Arial"/>
              </a:rPr>
              <a:t>Introduction</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Application</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Literature Review &amp; Results</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Dataset Exploration</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Data Preprocessing &amp; Balancing</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Algorithm &amp; Model Architecture</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Understanding the Functions</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Training &amp; Evaluation Results</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Challenges &amp; Solutions</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Model Results</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Future Work</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Conclusion</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sz="1420">
              <a:latin typeface="Arial"/>
              <a:ea typeface="Arial"/>
              <a:cs typeface="Arial"/>
              <a:sym typeface="Arial"/>
            </a:endParaRPr>
          </a:p>
          <a:p>
            <a:pPr indent="-293370" lvl="0" marL="457200" rtl="0" algn="l">
              <a:lnSpc>
                <a:spcPct val="70000"/>
              </a:lnSpc>
              <a:spcBef>
                <a:spcPts val="0"/>
              </a:spcBef>
              <a:spcAft>
                <a:spcPts val="0"/>
              </a:spcAft>
              <a:buSzPts val="1020"/>
              <a:buChar char="•"/>
            </a:pPr>
            <a:r>
              <a:rPr lang="en" sz="1420">
                <a:latin typeface="Arial"/>
                <a:ea typeface="Arial"/>
                <a:cs typeface="Arial"/>
                <a:sym typeface="Arial"/>
              </a:rPr>
              <a:t>Q&amp;A</a:t>
            </a:r>
            <a:endParaRPr sz="1420">
              <a:latin typeface="Arial"/>
              <a:ea typeface="Arial"/>
              <a:cs typeface="Arial"/>
              <a:sym typeface="Arial"/>
            </a:endParaRPr>
          </a:p>
          <a:p>
            <a:pPr indent="0" lvl="0" marL="457200" rtl="0" algn="l">
              <a:lnSpc>
                <a:spcPct val="70000"/>
              </a:lnSpc>
              <a:spcBef>
                <a:spcPts val="0"/>
              </a:spcBef>
              <a:spcAft>
                <a:spcPts val="0"/>
              </a:spcAft>
              <a:buSzPts val="440"/>
              <a:buNone/>
            </a:pPr>
            <a:r>
              <a:t/>
            </a:r>
            <a:endParaRPr b="1" sz="1220"/>
          </a:p>
        </p:txBody>
      </p:sp>
      <p:sp>
        <p:nvSpPr>
          <p:cNvPr id="105" name="Google Shape;105;p20"/>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OUTLINE</a:t>
            </a:r>
            <a:endParaRPr/>
          </a:p>
        </p:txBody>
      </p:sp>
      <p:sp>
        <p:nvSpPr>
          <p:cNvPr id="106" name="Google Shape;106;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idx="1" type="body"/>
          </p:nvPr>
        </p:nvSpPr>
        <p:spPr>
          <a:xfrm>
            <a:off x="628650" y="842210"/>
            <a:ext cx="7886700" cy="378558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
                <a:latin typeface="Arial"/>
                <a:ea typeface="Arial"/>
                <a:cs typeface="Arial"/>
                <a:sym typeface="Arial"/>
              </a:rPr>
              <a:t>What is melanoma and why is it dangerous?</a:t>
            </a:r>
            <a:endParaRPr>
              <a:latin typeface="Arial"/>
              <a:ea typeface="Arial"/>
              <a:cs typeface="Arial"/>
              <a:sym typeface="Arial"/>
            </a:endParaRPr>
          </a:p>
          <a:p>
            <a:pPr indent="0" lvl="0" marL="0" rtl="0" algn="l">
              <a:lnSpc>
                <a:spcPct val="90000"/>
              </a:lnSpc>
              <a:spcBef>
                <a:spcPts val="0"/>
              </a:spcBef>
              <a:spcAft>
                <a:spcPts val="0"/>
              </a:spcAft>
              <a:buClr>
                <a:schemeClr val="dk1"/>
              </a:buClr>
              <a:buSzPts val="2800"/>
              <a:buNone/>
            </a:pPr>
            <a:r>
              <a:t/>
            </a:r>
            <a:endParaRPr>
              <a:latin typeface="Arial"/>
              <a:ea typeface="Arial"/>
              <a:cs typeface="Arial"/>
              <a:sym typeface="Arial"/>
            </a:endParaRPr>
          </a:p>
          <a:p>
            <a:pPr indent="-342900" lvl="0" marL="457200" rtl="0" algn="l">
              <a:lnSpc>
                <a:spcPct val="90000"/>
              </a:lnSpc>
              <a:spcBef>
                <a:spcPts val="0"/>
              </a:spcBef>
              <a:spcAft>
                <a:spcPts val="0"/>
              </a:spcAft>
              <a:buSzPts val="1800"/>
              <a:buChar char="-"/>
            </a:pPr>
            <a:r>
              <a:rPr lang="en">
                <a:latin typeface="Arial"/>
                <a:ea typeface="Arial"/>
                <a:cs typeface="Arial"/>
                <a:sym typeface="Arial"/>
              </a:rPr>
              <a:t>Why early detection is critical</a:t>
            </a:r>
            <a:endParaRPr>
              <a:latin typeface="Arial"/>
              <a:ea typeface="Arial"/>
              <a:cs typeface="Arial"/>
              <a:sym typeface="Arial"/>
            </a:endParaRPr>
          </a:p>
          <a:p>
            <a:pPr indent="0" lvl="0" marL="0" rtl="0" algn="l">
              <a:lnSpc>
                <a:spcPct val="90000"/>
              </a:lnSpc>
              <a:spcBef>
                <a:spcPts val="0"/>
              </a:spcBef>
              <a:spcAft>
                <a:spcPts val="0"/>
              </a:spcAft>
              <a:buClr>
                <a:schemeClr val="dk1"/>
              </a:buClr>
              <a:buSzPts val="2800"/>
              <a:buNone/>
            </a:pPr>
            <a:r>
              <a:t/>
            </a:r>
            <a:endParaRPr>
              <a:latin typeface="Arial"/>
              <a:ea typeface="Arial"/>
              <a:cs typeface="Arial"/>
              <a:sym typeface="Arial"/>
            </a:endParaRPr>
          </a:p>
          <a:p>
            <a:pPr indent="-342900" lvl="0" marL="457200" rtl="0" algn="l">
              <a:lnSpc>
                <a:spcPct val="90000"/>
              </a:lnSpc>
              <a:spcBef>
                <a:spcPts val="0"/>
              </a:spcBef>
              <a:spcAft>
                <a:spcPts val="0"/>
              </a:spcAft>
              <a:buSzPts val="1800"/>
              <a:buChar char="-"/>
            </a:pPr>
            <a:r>
              <a:rPr lang="en">
                <a:latin typeface="Arial"/>
                <a:ea typeface="Arial"/>
                <a:cs typeface="Arial"/>
                <a:sym typeface="Arial"/>
              </a:rPr>
              <a:t>Challenges in manual diagnosis</a:t>
            </a:r>
            <a:endParaRPr>
              <a:latin typeface="Arial"/>
              <a:ea typeface="Arial"/>
              <a:cs typeface="Arial"/>
              <a:sym typeface="Arial"/>
            </a:endParaRPr>
          </a:p>
          <a:p>
            <a:pPr indent="0" lvl="0" marL="0" rtl="0" algn="l">
              <a:lnSpc>
                <a:spcPct val="90000"/>
              </a:lnSpc>
              <a:spcBef>
                <a:spcPts val="0"/>
              </a:spcBef>
              <a:spcAft>
                <a:spcPts val="0"/>
              </a:spcAft>
              <a:buClr>
                <a:schemeClr val="dk1"/>
              </a:buClr>
              <a:buSzPts val="2800"/>
              <a:buNone/>
            </a:pPr>
            <a:r>
              <a:t/>
            </a:r>
            <a:endParaRPr>
              <a:latin typeface="Arial"/>
              <a:ea typeface="Arial"/>
              <a:cs typeface="Arial"/>
              <a:sym typeface="Arial"/>
            </a:endParaRPr>
          </a:p>
          <a:p>
            <a:pPr indent="-342900" lvl="0" marL="457200" rtl="0" algn="l">
              <a:lnSpc>
                <a:spcPct val="90000"/>
              </a:lnSpc>
              <a:spcBef>
                <a:spcPts val="0"/>
              </a:spcBef>
              <a:spcAft>
                <a:spcPts val="0"/>
              </a:spcAft>
              <a:buSzPts val="1800"/>
              <a:buChar char="-"/>
            </a:pPr>
            <a:r>
              <a:rPr lang="en">
                <a:latin typeface="Arial"/>
                <a:ea typeface="Arial"/>
                <a:cs typeface="Arial"/>
                <a:sym typeface="Arial"/>
              </a:rPr>
              <a:t>Role of AI in skin lesion classification</a:t>
            </a:r>
            <a:endParaRPr>
              <a:latin typeface="Arial"/>
              <a:ea typeface="Arial"/>
              <a:cs typeface="Arial"/>
              <a:sym typeface="Arial"/>
            </a:endParaRPr>
          </a:p>
          <a:p>
            <a:pPr indent="0" lvl="0" marL="0" rtl="0" algn="l">
              <a:lnSpc>
                <a:spcPct val="90000"/>
              </a:lnSpc>
              <a:spcBef>
                <a:spcPts val="0"/>
              </a:spcBef>
              <a:spcAft>
                <a:spcPts val="0"/>
              </a:spcAft>
              <a:buClr>
                <a:schemeClr val="dk1"/>
              </a:buClr>
              <a:buSzPts val="2800"/>
              <a:buNone/>
            </a:pPr>
            <a:r>
              <a:t/>
            </a:r>
            <a:endParaRPr>
              <a:latin typeface="Arial"/>
              <a:ea typeface="Arial"/>
              <a:cs typeface="Arial"/>
              <a:sym typeface="Arial"/>
            </a:endParaRPr>
          </a:p>
          <a:p>
            <a:pPr indent="-342900" lvl="0" marL="457200" rtl="0" algn="l">
              <a:lnSpc>
                <a:spcPct val="90000"/>
              </a:lnSpc>
              <a:spcBef>
                <a:spcPts val="0"/>
              </a:spcBef>
              <a:spcAft>
                <a:spcPts val="0"/>
              </a:spcAft>
              <a:buSzPts val="1800"/>
              <a:buChar char="-"/>
            </a:pPr>
            <a:r>
              <a:rPr lang="en">
                <a:latin typeface="Arial"/>
                <a:ea typeface="Arial"/>
                <a:cs typeface="Arial"/>
                <a:sym typeface="Arial"/>
              </a:rPr>
              <a:t>Goal of this project</a:t>
            </a:r>
            <a:endParaRPr>
              <a:latin typeface="Arial"/>
              <a:ea typeface="Arial"/>
              <a:cs typeface="Arial"/>
              <a:sym typeface="Arial"/>
            </a:endParaRPr>
          </a:p>
        </p:txBody>
      </p:sp>
      <p:sp>
        <p:nvSpPr>
          <p:cNvPr id="112" name="Google Shape;112;p21"/>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INTRODUCTION </a:t>
            </a:r>
            <a:endParaRPr/>
          </a:p>
        </p:txBody>
      </p:sp>
      <p:sp>
        <p:nvSpPr>
          <p:cNvPr id="113" name="Google Shape;113;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idx="1" type="body"/>
          </p:nvPr>
        </p:nvSpPr>
        <p:spPr>
          <a:xfrm>
            <a:off x="628650" y="896815"/>
            <a:ext cx="7886700" cy="3730980"/>
          </a:xfrm>
          <a:prstGeom prst="rect">
            <a:avLst/>
          </a:prstGeom>
          <a:noFill/>
          <a:ln>
            <a:noFill/>
          </a:ln>
        </p:spPr>
        <p:txBody>
          <a:bodyPr anchorCtr="0" anchor="t" bIns="45700" lIns="91425" spcFirstLastPara="1" rIns="91425" wrap="square" tIns="45700">
            <a:normAutofit lnSpcReduction="20000"/>
          </a:bodyPr>
          <a:lstStyle/>
          <a:p>
            <a:pPr indent="-228593" lvl="0" marL="228593" rtl="0" algn="l">
              <a:lnSpc>
                <a:spcPct val="90000"/>
              </a:lnSpc>
              <a:spcBef>
                <a:spcPts val="0"/>
              </a:spcBef>
              <a:spcAft>
                <a:spcPts val="0"/>
              </a:spcAft>
              <a:buClr>
                <a:schemeClr val="dk1"/>
              </a:buClr>
              <a:buSzPts val="2800"/>
              <a:buChar char="•"/>
            </a:pPr>
            <a:r>
              <a:rPr lang="en">
                <a:latin typeface="Arial"/>
                <a:ea typeface="Arial"/>
                <a:cs typeface="Arial"/>
                <a:sym typeface="Arial"/>
              </a:rPr>
              <a:t>Real-world need for automated skin lesion detection</a:t>
            </a:r>
            <a:endParaRPr>
              <a:latin typeface="Arial"/>
              <a:ea typeface="Arial"/>
              <a:cs typeface="Arial"/>
              <a:sym typeface="Arial"/>
            </a:endParaRPr>
          </a:p>
          <a:p>
            <a:pPr indent="0" lvl="0" marL="228593" rtl="0" algn="l">
              <a:lnSpc>
                <a:spcPct val="90000"/>
              </a:lnSpc>
              <a:spcBef>
                <a:spcPts val="0"/>
              </a:spcBef>
              <a:spcAft>
                <a:spcPts val="0"/>
              </a:spcAft>
              <a:buNone/>
            </a:pPr>
            <a:r>
              <a:t/>
            </a:r>
            <a:endParaRPr>
              <a:latin typeface="Arial"/>
              <a:ea typeface="Arial"/>
              <a:cs typeface="Arial"/>
              <a:sym typeface="Arial"/>
            </a:endParaRPr>
          </a:p>
          <a:p>
            <a:pPr indent="-228593" lvl="0" marL="228593" rtl="0" algn="l">
              <a:lnSpc>
                <a:spcPct val="90000"/>
              </a:lnSpc>
              <a:spcBef>
                <a:spcPts val="0"/>
              </a:spcBef>
              <a:spcAft>
                <a:spcPts val="0"/>
              </a:spcAft>
              <a:buClr>
                <a:schemeClr val="dk1"/>
              </a:buClr>
              <a:buSzPts val="2800"/>
              <a:buChar char="•"/>
            </a:pPr>
            <a:r>
              <a:rPr lang="en">
                <a:latin typeface="Arial"/>
                <a:ea typeface="Arial"/>
                <a:cs typeface="Arial"/>
                <a:sym typeface="Arial"/>
              </a:rPr>
              <a:t>Reducing diagnostic workload for dermatologists</a:t>
            </a:r>
            <a:endParaRPr>
              <a:latin typeface="Arial"/>
              <a:ea typeface="Arial"/>
              <a:cs typeface="Arial"/>
              <a:sym typeface="Arial"/>
            </a:endParaRPr>
          </a:p>
          <a:p>
            <a:pPr indent="0" lvl="0" marL="228593" rtl="0" algn="l">
              <a:lnSpc>
                <a:spcPct val="90000"/>
              </a:lnSpc>
              <a:spcBef>
                <a:spcPts val="0"/>
              </a:spcBef>
              <a:spcAft>
                <a:spcPts val="0"/>
              </a:spcAft>
              <a:buNone/>
            </a:pPr>
            <a:r>
              <a:t/>
            </a:r>
            <a:endParaRPr>
              <a:latin typeface="Arial"/>
              <a:ea typeface="Arial"/>
              <a:cs typeface="Arial"/>
              <a:sym typeface="Arial"/>
            </a:endParaRPr>
          </a:p>
          <a:p>
            <a:pPr indent="-228593" lvl="0" marL="228593" rtl="0" algn="l">
              <a:lnSpc>
                <a:spcPct val="90000"/>
              </a:lnSpc>
              <a:spcBef>
                <a:spcPts val="0"/>
              </a:spcBef>
              <a:spcAft>
                <a:spcPts val="0"/>
              </a:spcAft>
              <a:buClr>
                <a:schemeClr val="dk1"/>
              </a:buClr>
              <a:buSzPts val="2800"/>
              <a:buChar char="•"/>
            </a:pPr>
            <a:r>
              <a:rPr lang="en">
                <a:latin typeface="Arial"/>
                <a:ea typeface="Arial"/>
                <a:cs typeface="Arial"/>
                <a:sym typeface="Arial"/>
              </a:rPr>
              <a:t>Improving access to healthcare in underserved areas</a:t>
            </a:r>
            <a:endParaRPr>
              <a:latin typeface="Arial"/>
              <a:ea typeface="Arial"/>
              <a:cs typeface="Arial"/>
              <a:sym typeface="Arial"/>
            </a:endParaRPr>
          </a:p>
          <a:p>
            <a:pPr indent="0" lvl="0" marL="228593" rtl="0" algn="l">
              <a:lnSpc>
                <a:spcPct val="90000"/>
              </a:lnSpc>
              <a:spcBef>
                <a:spcPts val="0"/>
              </a:spcBef>
              <a:spcAft>
                <a:spcPts val="0"/>
              </a:spcAft>
              <a:buNone/>
            </a:pPr>
            <a:r>
              <a:t/>
            </a:r>
            <a:endParaRPr>
              <a:latin typeface="Arial"/>
              <a:ea typeface="Arial"/>
              <a:cs typeface="Arial"/>
              <a:sym typeface="Arial"/>
            </a:endParaRPr>
          </a:p>
          <a:p>
            <a:pPr indent="-228593" lvl="0" marL="228593" rtl="0" algn="l">
              <a:lnSpc>
                <a:spcPct val="90000"/>
              </a:lnSpc>
              <a:spcBef>
                <a:spcPts val="0"/>
              </a:spcBef>
              <a:spcAft>
                <a:spcPts val="0"/>
              </a:spcAft>
              <a:buClr>
                <a:schemeClr val="dk1"/>
              </a:buClr>
              <a:buSzPts val="2800"/>
              <a:buChar char="•"/>
            </a:pPr>
            <a:r>
              <a:rPr lang="en">
                <a:latin typeface="Arial"/>
                <a:ea typeface="Arial"/>
                <a:cs typeface="Arial"/>
                <a:sym typeface="Arial"/>
              </a:rPr>
              <a:t>Potential mobile/clinical deployment</a:t>
            </a:r>
            <a:endParaRPr>
              <a:latin typeface="Arial"/>
              <a:ea typeface="Arial"/>
              <a:cs typeface="Arial"/>
              <a:sym typeface="Arial"/>
            </a:endParaRPr>
          </a:p>
          <a:p>
            <a:pPr indent="0" lvl="0" marL="228593" rtl="0" algn="l">
              <a:lnSpc>
                <a:spcPct val="90000"/>
              </a:lnSpc>
              <a:spcBef>
                <a:spcPts val="0"/>
              </a:spcBef>
              <a:spcAft>
                <a:spcPts val="0"/>
              </a:spcAft>
              <a:buNone/>
            </a:pPr>
            <a:r>
              <a:t/>
            </a:r>
            <a:endParaRPr>
              <a:latin typeface="Arial"/>
              <a:ea typeface="Arial"/>
              <a:cs typeface="Arial"/>
              <a:sym typeface="Arial"/>
            </a:endParaRPr>
          </a:p>
          <a:p>
            <a:pPr indent="-228594" lvl="0" marL="228594" rtl="0" algn="l">
              <a:lnSpc>
                <a:spcPct val="90000"/>
              </a:lnSpc>
              <a:spcBef>
                <a:spcPts val="0"/>
              </a:spcBef>
              <a:spcAft>
                <a:spcPts val="0"/>
              </a:spcAft>
              <a:buClr>
                <a:schemeClr val="dk1"/>
              </a:buClr>
              <a:buSzPts val="2800"/>
              <a:buChar char="•"/>
            </a:pPr>
            <a:r>
              <a:rPr lang="en">
                <a:latin typeface="Arial"/>
                <a:ea typeface="Arial"/>
                <a:cs typeface="Arial"/>
                <a:sym typeface="Arial"/>
              </a:rPr>
              <a:t>Supporting early intervention and treatment</a:t>
            </a:r>
            <a:endParaRPr>
              <a:latin typeface="Arial"/>
              <a:ea typeface="Arial"/>
              <a:cs typeface="Arial"/>
              <a:sym typeface="Arial"/>
            </a:endParaRPr>
          </a:p>
        </p:txBody>
      </p:sp>
      <p:sp>
        <p:nvSpPr>
          <p:cNvPr id="119" name="Google Shape;119;p22"/>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APPLICATION </a:t>
            </a:r>
            <a:endParaRPr/>
          </a:p>
        </p:txBody>
      </p:sp>
      <p:sp>
        <p:nvSpPr>
          <p:cNvPr id="120" name="Google Shape;120;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LITERATURE REVIEW &amp; RESULTS </a:t>
            </a:r>
            <a:endParaRPr/>
          </a:p>
        </p:txBody>
      </p:sp>
      <p:sp>
        <p:nvSpPr>
          <p:cNvPr id="126" name="Google Shape;126;p23"/>
          <p:cNvSpPr txBox="1"/>
          <p:nvPr>
            <p:ph idx="1" type="body"/>
          </p:nvPr>
        </p:nvSpPr>
        <p:spPr>
          <a:xfrm>
            <a:off x="628650" y="3515450"/>
            <a:ext cx="7782600" cy="14061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100000"/>
              </a:lnSpc>
              <a:spcBef>
                <a:spcPts val="0"/>
              </a:spcBef>
              <a:spcAft>
                <a:spcPts val="0"/>
              </a:spcAft>
              <a:buClr>
                <a:schemeClr val="dk1"/>
              </a:buClr>
              <a:buSzPct val="26445"/>
              <a:buFont typeface="Arial"/>
              <a:buNone/>
            </a:pPr>
            <a:r>
              <a:t/>
            </a:r>
            <a:endParaRPr b="1" sz="4159">
              <a:latin typeface="Arial"/>
              <a:ea typeface="Arial"/>
              <a:cs typeface="Arial"/>
              <a:sym typeface="Arial"/>
            </a:endParaRPr>
          </a:p>
          <a:p>
            <a:pPr indent="-334251" lvl="0" marL="457200" rtl="0" algn="l">
              <a:lnSpc>
                <a:spcPct val="100000"/>
              </a:lnSpc>
              <a:spcBef>
                <a:spcPts val="0"/>
              </a:spcBef>
              <a:spcAft>
                <a:spcPts val="0"/>
              </a:spcAft>
              <a:buSzPct val="100000"/>
              <a:buChar char="●"/>
            </a:pPr>
            <a:r>
              <a:rPr b="1" lang="en" sz="4159">
                <a:latin typeface="Arial"/>
                <a:ea typeface="Arial"/>
                <a:cs typeface="Arial"/>
                <a:sym typeface="Arial"/>
              </a:rPr>
              <a:t>SkinLesNet</a:t>
            </a:r>
            <a:r>
              <a:rPr lang="en" sz="4159">
                <a:latin typeface="Arial"/>
                <a:ea typeface="Arial"/>
                <a:cs typeface="Arial"/>
                <a:sym typeface="Arial"/>
              </a:rPr>
              <a:t> excelled across multiple datasets, especially with smartphone images.</a:t>
            </a:r>
            <a:endParaRPr b="1" sz="4159">
              <a:latin typeface="Arial"/>
              <a:ea typeface="Arial"/>
              <a:cs typeface="Arial"/>
              <a:sym typeface="Arial"/>
            </a:endParaRPr>
          </a:p>
          <a:p>
            <a:pPr indent="-334251" lvl="0" marL="457200" rtl="0" algn="l">
              <a:lnSpc>
                <a:spcPct val="100000"/>
              </a:lnSpc>
              <a:spcBef>
                <a:spcPts val="0"/>
              </a:spcBef>
              <a:spcAft>
                <a:spcPts val="0"/>
              </a:spcAft>
              <a:buSzPct val="100000"/>
              <a:buChar char="●"/>
            </a:pPr>
            <a:r>
              <a:rPr b="1" lang="en" sz="4159">
                <a:latin typeface="Arial"/>
                <a:ea typeface="Arial"/>
                <a:cs typeface="Arial"/>
                <a:sym typeface="Arial"/>
              </a:rPr>
              <a:t>Rahman &amp; Smith </a:t>
            </a:r>
            <a:r>
              <a:rPr lang="en" sz="4159">
                <a:latin typeface="Arial"/>
                <a:ea typeface="Arial"/>
                <a:cs typeface="Arial"/>
                <a:sym typeface="Arial"/>
              </a:rPr>
              <a:t>emphasized explainability and robust evaluation.</a:t>
            </a:r>
            <a:endParaRPr sz="4159">
              <a:latin typeface="Arial"/>
              <a:ea typeface="Arial"/>
              <a:cs typeface="Arial"/>
              <a:sym typeface="Arial"/>
            </a:endParaRPr>
          </a:p>
          <a:p>
            <a:pPr indent="-334251" lvl="0" marL="457200" rtl="0" algn="l">
              <a:lnSpc>
                <a:spcPct val="100000"/>
              </a:lnSpc>
              <a:spcBef>
                <a:spcPts val="0"/>
              </a:spcBef>
              <a:spcAft>
                <a:spcPts val="0"/>
              </a:spcAft>
              <a:buSzPct val="100000"/>
              <a:buChar char="●"/>
            </a:pPr>
            <a:r>
              <a:rPr lang="en" sz="4159">
                <a:latin typeface="Arial"/>
                <a:ea typeface="Arial"/>
                <a:cs typeface="Arial"/>
                <a:sym typeface="Arial"/>
              </a:rPr>
              <a:t>The </a:t>
            </a:r>
            <a:r>
              <a:rPr b="1" lang="en" sz="4159">
                <a:latin typeface="Arial"/>
                <a:ea typeface="Arial"/>
                <a:cs typeface="Arial"/>
                <a:sym typeface="Arial"/>
              </a:rPr>
              <a:t>Optimized CNN</a:t>
            </a:r>
            <a:r>
              <a:rPr lang="en" sz="4159">
                <a:latin typeface="Arial"/>
                <a:ea typeface="Arial"/>
                <a:cs typeface="Arial"/>
                <a:sym typeface="Arial"/>
              </a:rPr>
              <a:t> achieved high accuracy but noted </a:t>
            </a:r>
            <a:r>
              <a:rPr b="1" lang="en" sz="4159">
                <a:latin typeface="Arial"/>
                <a:ea typeface="Arial"/>
                <a:cs typeface="Arial"/>
                <a:sym typeface="Arial"/>
              </a:rPr>
              <a:t>misclassifications</a:t>
            </a:r>
            <a:r>
              <a:rPr lang="en" sz="4159">
                <a:latin typeface="Arial"/>
                <a:ea typeface="Arial"/>
                <a:cs typeface="Arial"/>
                <a:sym typeface="Arial"/>
              </a:rPr>
              <a:t> and </a:t>
            </a:r>
            <a:r>
              <a:rPr b="1" lang="en" sz="4159">
                <a:latin typeface="Arial"/>
                <a:ea typeface="Arial"/>
                <a:cs typeface="Arial"/>
                <a:sym typeface="Arial"/>
              </a:rPr>
              <a:t>ambiguity</a:t>
            </a:r>
            <a:r>
              <a:rPr lang="en" sz="4159">
                <a:latin typeface="Arial"/>
                <a:ea typeface="Arial"/>
                <a:cs typeface="Arial"/>
                <a:sym typeface="Arial"/>
              </a:rPr>
              <a:t> in some predictions.</a:t>
            </a:r>
            <a:endParaRPr sz="4159">
              <a:latin typeface="Arial"/>
              <a:ea typeface="Arial"/>
              <a:cs typeface="Arial"/>
              <a:sym typeface="Arial"/>
            </a:endParaRPr>
          </a:p>
        </p:txBody>
      </p:sp>
      <p:sp>
        <p:nvSpPr>
          <p:cNvPr id="127" name="Google Shape;127;p2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28" name="Google Shape;128;p23"/>
          <p:cNvPicPr preferRelativeResize="0"/>
          <p:nvPr/>
        </p:nvPicPr>
        <p:blipFill>
          <a:blip r:embed="rId3">
            <a:alphaModFix/>
          </a:blip>
          <a:stretch>
            <a:fillRect/>
          </a:stretch>
        </p:blipFill>
        <p:spPr>
          <a:xfrm>
            <a:off x="408300" y="760325"/>
            <a:ext cx="8327400" cy="2924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4"/>
          <p:cNvSpPr txBox="1"/>
          <p:nvPr/>
        </p:nvSpPr>
        <p:spPr>
          <a:xfrm>
            <a:off x="3200401" y="2228850"/>
            <a:ext cx="184731" cy="1861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13">
              <a:solidFill>
                <a:schemeClr val="dk1"/>
              </a:solidFill>
              <a:latin typeface="Calibri"/>
              <a:ea typeface="Calibri"/>
              <a:cs typeface="Calibri"/>
              <a:sym typeface="Calibri"/>
            </a:endParaRPr>
          </a:p>
        </p:txBody>
      </p:sp>
      <p:sp>
        <p:nvSpPr>
          <p:cNvPr id="135" name="Google Shape;135;p24"/>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DATASET </a:t>
            </a:r>
            <a:r>
              <a:rPr b="1" lang="en" sz="2800">
                <a:solidFill>
                  <a:schemeClr val="lt1"/>
                </a:solidFill>
                <a:latin typeface="Calibri"/>
                <a:ea typeface="Calibri"/>
                <a:cs typeface="Calibri"/>
                <a:sym typeface="Calibri"/>
              </a:rPr>
              <a:t>EXPLORATION </a:t>
            </a:r>
            <a:endParaRPr/>
          </a:p>
        </p:txBody>
      </p:sp>
      <p:pic>
        <p:nvPicPr>
          <p:cNvPr id="136" name="Google Shape;136;p24"/>
          <p:cNvPicPr preferRelativeResize="0"/>
          <p:nvPr/>
        </p:nvPicPr>
        <p:blipFill>
          <a:blip r:embed="rId3">
            <a:alphaModFix/>
          </a:blip>
          <a:stretch>
            <a:fillRect/>
          </a:stretch>
        </p:blipFill>
        <p:spPr>
          <a:xfrm>
            <a:off x="257588" y="794274"/>
            <a:ext cx="6070350" cy="2814475"/>
          </a:xfrm>
          <a:prstGeom prst="rect">
            <a:avLst/>
          </a:prstGeom>
          <a:noFill/>
          <a:ln>
            <a:noFill/>
          </a:ln>
        </p:spPr>
      </p:pic>
      <p:pic>
        <p:nvPicPr>
          <p:cNvPr id="137" name="Google Shape;137;p24"/>
          <p:cNvPicPr preferRelativeResize="0"/>
          <p:nvPr/>
        </p:nvPicPr>
        <p:blipFill>
          <a:blip r:embed="rId4">
            <a:alphaModFix/>
          </a:blip>
          <a:stretch>
            <a:fillRect/>
          </a:stretch>
        </p:blipFill>
        <p:spPr>
          <a:xfrm>
            <a:off x="5005354" y="2228850"/>
            <a:ext cx="3861021" cy="2425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5"/>
          <p:cNvSpPr txBox="1"/>
          <p:nvPr/>
        </p:nvSpPr>
        <p:spPr>
          <a:xfrm>
            <a:off x="3200401" y="2228850"/>
            <a:ext cx="184800" cy="24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13">
              <a:solidFill>
                <a:schemeClr val="dk1"/>
              </a:solidFill>
              <a:latin typeface="Calibri"/>
              <a:ea typeface="Calibri"/>
              <a:cs typeface="Calibri"/>
              <a:sym typeface="Calibri"/>
            </a:endParaRPr>
          </a:p>
        </p:txBody>
      </p:sp>
      <p:sp>
        <p:nvSpPr>
          <p:cNvPr id="144" name="Google Shape;144;p25"/>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DATA </a:t>
            </a:r>
            <a:r>
              <a:rPr b="1" lang="en" sz="2800">
                <a:solidFill>
                  <a:schemeClr val="lt1"/>
                </a:solidFill>
                <a:latin typeface="Calibri"/>
                <a:ea typeface="Calibri"/>
                <a:cs typeface="Calibri"/>
                <a:sym typeface="Calibri"/>
              </a:rPr>
              <a:t>PREPROCESSING</a:t>
            </a:r>
            <a:r>
              <a:rPr b="1" lang="en" sz="2800">
                <a:solidFill>
                  <a:schemeClr val="lt1"/>
                </a:solidFill>
                <a:latin typeface="Calibri"/>
                <a:ea typeface="Calibri"/>
                <a:cs typeface="Calibri"/>
                <a:sym typeface="Calibri"/>
              </a:rPr>
              <a:t> AND BALANCING</a:t>
            </a:r>
            <a:endParaRPr b="1" sz="2800">
              <a:solidFill>
                <a:schemeClr val="lt1"/>
              </a:solidFill>
              <a:latin typeface="Calibri"/>
              <a:ea typeface="Calibri"/>
              <a:cs typeface="Calibri"/>
              <a:sym typeface="Calibri"/>
            </a:endParaRPr>
          </a:p>
        </p:txBody>
      </p:sp>
      <p:pic>
        <p:nvPicPr>
          <p:cNvPr id="145" name="Google Shape;145;p25"/>
          <p:cNvPicPr preferRelativeResize="0"/>
          <p:nvPr/>
        </p:nvPicPr>
        <p:blipFill>
          <a:blip r:embed="rId3">
            <a:alphaModFix/>
          </a:blip>
          <a:stretch>
            <a:fillRect/>
          </a:stretch>
        </p:blipFill>
        <p:spPr>
          <a:xfrm>
            <a:off x="248775" y="675650"/>
            <a:ext cx="3907924" cy="2207000"/>
          </a:xfrm>
          <a:prstGeom prst="rect">
            <a:avLst/>
          </a:prstGeom>
          <a:noFill/>
          <a:ln>
            <a:noFill/>
          </a:ln>
        </p:spPr>
      </p:pic>
      <p:pic>
        <p:nvPicPr>
          <p:cNvPr id="146" name="Google Shape;146;p25"/>
          <p:cNvPicPr preferRelativeResize="0"/>
          <p:nvPr/>
        </p:nvPicPr>
        <p:blipFill>
          <a:blip r:embed="rId4">
            <a:alphaModFix/>
          </a:blip>
          <a:stretch>
            <a:fillRect/>
          </a:stretch>
        </p:blipFill>
        <p:spPr>
          <a:xfrm>
            <a:off x="4021574" y="2104047"/>
            <a:ext cx="4682500" cy="25448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idx="1" type="body"/>
          </p:nvPr>
        </p:nvSpPr>
        <p:spPr>
          <a:xfrm>
            <a:off x="251650" y="3264899"/>
            <a:ext cx="5564100" cy="1293000"/>
          </a:xfrm>
          <a:prstGeom prst="rect">
            <a:avLst/>
          </a:prstGeom>
          <a:noFill/>
          <a:ln>
            <a:noFill/>
          </a:ln>
        </p:spPr>
        <p:txBody>
          <a:bodyPr anchorCtr="0" anchor="t" bIns="45700" lIns="91425" spcFirstLastPara="1" rIns="91425" wrap="square" tIns="45700">
            <a:normAutofit fontScale="92500" lnSpcReduction="20000"/>
          </a:bodyPr>
          <a:lstStyle/>
          <a:p>
            <a:pPr indent="-334327" lvl="0" marL="457200" rtl="0" algn="l">
              <a:lnSpc>
                <a:spcPct val="90000"/>
              </a:lnSpc>
              <a:spcBef>
                <a:spcPts val="0"/>
              </a:spcBef>
              <a:spcAft>
                <a:spcPts val="0"/>
              </a:spcAft>
              <a:buSzPct val="100000"/>
              <a:buChar char="-"/>
            </a:pPr>
            <a:r>
              <a:rPr lang="en" sz="1800">
                <a:latin typeface="Arial"/>
                <a:ea typeface="Arial"/>
                <a:cs typeface="Arial"/>
                <a:sym typeface="Arial"/>
              </a:rPr>
              <a:t>data_generator() – Custom generator for multi-input batches</a:t>
            </a:r>
            <a:endParaRPr sz="1800">
              <a:latin typeface="Arial"/>
              <a:ea typeface="Arial"/>
              <a:cs typeface="Arial"/>
              <a:sym typeface="Arial"/>
            </a:endParaRPr>
          </a:p>
          <a:p>
            <a:pPr indent="0" lvl="0" marL="457200" rtl="0" algn="l">
              <a:lnSpc>
                <a:spcPct val="90000"/>
              </a:lnSpc>
              <a:spcBef>
                <a:spcPts val="0"/>
              </a:spcBef>
              <a:spcAft>
                <a:spcPts val="0"/>
              </a:spcAft>
              <a:buNone/>
            </a:pPr>
            <a:r>
              <a:t/>
            </a:r>
            <a:endParaRPr sz="1800">
              <a:latin typeface="Arial"/>
              <a:ea typeface="Arial"/>
              <a:cs typeface="Arial"/>
              <a:sym typeface="Arial"/>
            </a:endParaRPr>
          </a:p>
          <a:p>
            <a:pPr indent="-322580" lvl="0" marL="457200" rtl="0" algn="l">
              <a:lnSpc>
                <a:spcPct val="90000"/>
              </a:lnSpc>
              <a:spcBef>
                <a:spcPts val="0"/>
              </a:spcBef>
              <a:spcAft>
                <a:spcPts val="0"/>
              </a:spcAft>
              <a:buSzPct val="88888"/>
              <a:buChar char="-"/>
            </a:pPr>
            <a:r>
              <a:rPr lang="en" sz="1800">
                <a:latin typeface="Arial"/>
                <a:ea typeface="Arial"/>
                <a:cs typeface="Arial"/>
                <a:sym typeface="Arial"/>
              </a:rPr>
              <a:t>Encodes labels using LabelEncoder</a:t>
            </a:r>
            <a:endParaRPr sz="1800">
              <a:latin typeface="Arial"/>
              <a:ea typeface="Arial"/>
              <a:cs typeface="Arial"/>
              <a:sym typeface="Arial"/>
            </a:endParaRPr>
          </a:p>
          <a:p>
            <a:pPr indent="0" lvl="0" marL="457200" rtl="0" algn="l">
              <a:lnSpc>
                <a:spcPct val="90000"/>
              </a:lnSpc>
              <a:spcBef>
                <a:spcPts val="0"/>
              </a:spcBef>
              <a:spcAft>
                <a:spcPts val="0"/>
              </a:spcAft>
              <a:buNone/>
            </a:pPr>
            <a:r>
              <a:t/>
            </a:r>
            <a:endParaRPr sz="1800">
              <a:latin typeface="Arial"/>
              <a:ea typeface="Arial"/>
              <a:cs typeface="Arial"/>
              <a:sym typeface="Arial"/>
            </a:endParaRPr>
          </a:p>
          <a:p>
            <a:pPr indent="-322580" lvl="0" marL="457200" rtl="0" algn="l">
              <a:lnSpc>
                <a:spcPct val="90000"/>
              </a:lnSpc>
              <a:spcBef>
                <a:spcPts val="0"/>
              </a:spcBef>
              <a:spcAft>
                <a:spcPts val="0"/>
              </a:spcAft>
              <a:buSzPct val="88888"/>
              <a:buChar char="-"/>
            </a:pPr>
            <a:r>
              <a:rPr lang="en" sz="1800">
                <a:latin typeface="Arial"/>
                <a:ea typeface="Arial"/>
                <a:cs typeface="Arial"/>
                <a:sym typeface="Arial"/>
              </a:rPr>
              <a:t>Combines tabular and image features for training</a:t>
            </a:r>
            <a:endParaRPr sz="1800">
              <a:latin typeface="Arial"/>
              <a:ea typeface="Arial"/>
              <a:cs typeface="Arial"/>
              <a:sym typeface="Arial"/>
            </a:endParaRPr>
          </a:p>
        </p:txBody>
      </p:sp>
      <p:sp>
        <p:nvSpPr>
          <p:cNvPr id="152" name="Google Shape;152;p26"/>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UNDERSTANDING THE FUNCTIONS </a:t>
            </a:r>
            <a:endParaRPr/>
          </a:p>
        </p:txBody>
      </p:sp>
      <p:sp>
        <p:nvSpPr>
          <p:cNvPr id="153" name="Google Shape;153;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3">
            <a:alphaModFix/>
          </a:blip>
          <a:stretch>
            <a:fillRect/>
          </a:stretch>
        </p:blipFill>
        <p:spPr>
          <a:xfrm>
            <a:off x="1272975" y="953696"/>
            <a:ext cx="3705225" cy="1114425"/>
          </a:xfrm>
          <a:prstGeom prst="rect">
            <a:avLst/>
          </a:prstGeom>
          <a:noFill/>
          <a:ln>
            <a:noFill/>
          </a:ln>
        </p:spPr>
      </p:pic>
      <p:pic>
        <p:nvPicPr>
          <p:cNvPr id="155" name="Google Shape;155;p26"/>
          <p:cNvPicPr preferRelativeResize="0"/>
          <p:nvPr/>
        </p:nvPicPr>
        <p:blipFill>
          <a:blip r:embed="rId4">
            <a:alphaModFix/>
          </a:blip>
          <a:stretch>
            <a:fillRect/>
          </a:stretch>
        </p:blipFill>
        <p:spPr>
          <a:xfrm>
            <a:off x="5321100" y="953696"/>
            <a:ext cx="3524250" cy="1619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CHALLENGES AND SOLUTIONS </a:t>
            </a:r>
            <a:endParaRPr/>
          </a:p>
        </p:txBody>
      </p:sp>
      <p:sp>
        <p:nvSpPr>
          <p:cNvPr id="161" name="Google Shape;161;p2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62" name="Google Shape;162;p27"/>
          <p:cNvGraphicFramePr/>
          <p:nvPr/>
        </p:nvGraphicFramePr>
        <p:xfrm>
          <a:off x="952500" y="1212838"/>
          <a:ext cx="3000000" cy="3000000"/>
        </p:xfrm>
        <a:graphic>
          <a:graphicData uri="http://schemas.openxmlformats.org/drawingml/2006/table">
            <a:tbl>
              <a:tblPr>
                <a:noFill/>
                <a:tableStyleId>{102CF6EE-96C5-494F-9DDF-128D89AADF56}</a:tableStyleId>
              </a:tblPr>
              <a:tblGrid>
                <a:gridCol w="3619500"/>
                <a:gridCol w="3619500"/>
              </a:tblGrid>
              <a:tr h="381000">
                <a:tc>
                  <a:txBody>
                    <a:bodyPr/>
                    <a:lstStyle/>
                    <a:p>
                      <a:pPr indent="0" lvl="0" marL="0" rtl="0" algn="l">
                        <a:spcBef>
                          <a:spcPts val="0"/>
                        </a:spcBef>
                        <a:spcAft>
                          <a:spcPts val="0"/>
                        </a:spcAft>
                        <a:buNone/>
                      </a:pPr>
                      <a:r>
                        <a:rPr b="1" lang="en"/>
                        <a:t>Challenges</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t>Solution</a:t>
                      </a:r>
                      <a:endParaRPr b="1"/>
                    </a:p>
                  </a:txBody>
                  <a:tcPr marT="91425" marB="91425" marR="91425" marL="91425"/>
                </a:tc>
              </a:tr>
              <a:tr h="381000">
                <a:tc>
                  <a:txBody>
                    <a:bodyPr/>
                    <a:lstStyle/>
                    <a:p>
                      <a:pPr indent="0" lvl="0" marL="0" rtl="0" algn="l">
                        <a:spcBef>
                          <a:spcPts val="0"/>
                        </a:spcBef>
                        <a:spcAft>
                          <a:spcPts val="0"/>
                        </a:spcAft>
                        <a:buNone/>
                      </a:pPr>
                      <a:r>
                        <a:rPr lang="en"/>
                        <a:t>Class Imbalance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Oversampling + rotation-based </a:t>
                      </a:r>
                      <a:r>
                        <a:rPr lang="en"/>
                        <a:t>augmentation</a:t>
                      </a:r>
                      <a:endParaRPr/>
                    </a:p>
                  </a:txBody>
                  <a:tcPr marT="91425" marB="91425" marR="91425" marL="91425">
                    <a:lnL cap="flat" cmpd="sng" w="9525">
                      <a:solidFill>
                        <a:srgbClr val="9E9E9E"/>
                      </a:solidFill>
                      <a:prstDash val="solid"/>
                      <a:round/>
                      <a:headEnd len="sm" w="sm" type="none"/>
                      <a:tailEnd len="sm" w="sm" type="none"/>
                    </a:lnL>
                  </a:tcPr>
                </a:tc>
              </a:tr>
              <a:tr h="381000">
                <a:tc>
                  <a:txBody>
                    <a:bodyPr/>
                    <a:lstStyle/>
                    <a:p>
                      <a:pPr indent="0" lvl="0" marL="0" rtl="0" algn="l">
                        <a:spcBef>
                          <a:spcPts val="0"/>
                        </a:spcBef>
                        <a:spcAft>
                          <a:spcPts val="0"/>
                        </a:spcAft>
                        <a:buNone/>
                      </a:pPr>
                      <a:r>
                        <a:rPr lang="en"/>
                        <a:t>Missing Metadata</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a:t>Filled with median or “unknown”;</a:t>
                      </a:r>
                      <a:endParaRPr/>
                    </a:p>
                  </a:txBody>
                  <a:tcPr marT="91425" marB="91425" marR="91425" marL="91425"/>
                </a:tc>
              </a:tr>
              <a:tr h="381000">
                <a:tc>
                  <a:txBody>
                    <a:bodyPr/>
                    <a:lstStyle/>
                    <a:p>
                      <a:pPr indent="0" lvl="0" marL="0" rtl="0" algn="l">
                        <a:spcBef>
                          <a:spcPts val="0"/>
                        </a:spcBef>
                        <a:spcAft>
                          <a:spcPts val="0"/>
                        </a:spcAft>
                        <a:buNone/>
                      </a:pPr>
                      <a:r>
                        <a:rPr lang="en"/>
                        <a:t>Combining image and tabular data</a:t>
                      </a:r>
                      <a:endParaRPr/>
                    </a:p>
                  </a:txBody>
                  <a:tcPr marT="91425" marB="91425" marR="91425" marL="91425"/>
                </a:tc>
                <a:tc>
                  <a:txBody>
                    <a:bodyPr/>
                    <a:lstStyle/>
                    <a:p>
                      <a:pPr indent="0" lvl="0" marL="0" rtl="0" algn="l">
                        <a:spcBef>
                          <a:spcPts val="0"/>
                        </a:spcBef>
                        <a:spcAft>
                          <a:spcPts val="0"/>
                        </a:spcAft>
                        <a:buNone/>
                      </a:pPr>
                      <a:r>
                        <a:rPr lang="en"/>
                        <a:t>Designed a custom multi-input model</a:t>
                      </a:r>
                      <a:endParaRPr/>
                    </a:p>
                  </a:txBody>
                  <a:tcPr marT="91425" marB="91425" marR="91425" marL="91425"/>
                </a:tc>
              </a:tr>
              <a:tr h="381000">
                <a:tc>
                  <a:txBody>
                    <a:bodyPr/>
                    <a:lstStyle/>
                    <a:p>
                      <a:pPr indent="0" lvl="0" marL="0" rtl="0" algn="l">
                        <a:spcBef>
                          <a:spcPts val="0"/>
                        </a:spcBef>
                        <a:spcAft>
                          <a:spcPts val="0"/>
                        </a:spcAft>
                        <a:buNone/>
                      </a:pPr>
                      <a:r>
                        <a:rPr lang="en"/>
                        <a:t>High image variability</a:t>
                      </a:r>
                      <a:endParaRPr/>
                    </a:p>
                  </a:txBody>
                  <a:tcPr marT="91425" marB="91425" marR="91425" marL="91425"/>
                </a:tc>
                <a:tc>
                  <a:txBody>
                    <a:bodyPr/>
                    <a:lstStyle/>
                    <a:p>
                      <a:pPr indent="0" lvl="0" marL="0" rtl="0" algn="l">
                        <a:spcBef>
                          <a:spcPts val="0"/>
                        </a:spcBef>
                        <a:spcAft>
                          <a:spcPts val="0"/>
                        </a:spcAft>
                        <a:buNone/>
                      </a:pPr>
                      <a:r>
                        <a:rPr lang="en"/>
                        <a:t>Applied resizing, normalization and </a:t>
                      </a:r>
                      <a:r>
                        <a:rPr lang="en"/>
                        <a:t>augmentation</a:t>
                      </a:r>
                      <a:endParaRPr/>
                    </a:p>
                  </a:txBody>
                  <a:tcPr marT="91425" marB="91425" marR="91425" marL="91425"/>
                </a:tc>
              </a:tr>
              <a:tr h="381000">
                <a:tc>
                  <a:txBody>
                    <a:bodyPr/>
                    <a:lstStyle/>
                    <a:p>
                      <a:pPr indent="0" lvl="0" marL="0" rtl="0" algn="l">
                        <a:spcBef>
                          <a:spcPts val="0"/>
                        </a:spcBef>
                        <a:spcAft>
                          <a:spcPts val="0"/>
                        </a:spcAft>
                        <a:buNone/>
                      </a:pPr>
                      <a:r>
                        <a:rPr lang="en"/>
                        <a:t>Preventing overfitting</a:t>
                      </a:r>
                      <a:endParaRPr/>
                    </a:p>
                  </a:txBody>
                  <a:tcPr marT="91425" marB="91425" marR="91425" marL="91425"/>
                </a:tc>
                <a:tc>
                  <a:txBody>
                    <a:bodyPr/>
                    <a:lstStyle/>
                    <a:p>
                      <a:pPr indent="0" lvl="0" marL="0" rtl="0" algn="l">
                        <a:spcBef>
                          <a:spcPts val="0"/>
                        </a:spcBef>
                        <a:spcAft>
                          <a:spcPts val="0"/>
                        </a:spcAft>
                        <a:buNone/>
                      </a:pPr>
                      <a:r>
                        <a:rPr lang="en"/>
                        <a:t>Used </a:t>
                      </a:r>
                      <a:r>
                        <a:rPr lang="en"/>
                        <a:t>dropout and regularization in model architecture.</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8"/>
          <p:cNvSpPr txBox="1"/>
          <p:nvPr>
            <p:ph idx="1" type="body"/>
          </p:nvPr>
        </p:nvSpPr>
        <p:spPr>
          <a:xfrm>
            <a:off x="0" y="675650"/>
            <a:ext cx="4279500" cy="43323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15000"/>
              </a:lnSpc>
              <a:spcBef>
                <a:spcPts val="1200"/>
              </a:spcBef>
              <a:spcAft>
                <a:spcPts val="0"/>
              </a:spcAft>
              <a:buNone/>
            </a:pPr>
            <a:r>
              <a:rPr b="1" lang="en" sz="1100">
                <a:latin typeface="Arial"/>
                <a:ea typeface="Arial"/>
                <a:cs typeface="Arial"/>
                <a:sym typeface="Arial"/>
              </a:rPr>
              <a:t>Model Architecture</a:t>
            </a:r>
            <a:endParaRPr b="1" sz="1100">
              <a:latin typeface="Arial"/>
              <a:ea typeface="Arial"/>
              <a:cs typeface="Arial"/>
              <a:sym typeface="Arial"/>
            </a:endParaRPr>
          </a:p>
          <a:p>
            <a:pPr indent="-282733" lvl="0" marL="457200" rtl="0" algn="l">
              <a:lnSpc>
                <a:spcPct val="115000"/>
              </a:lnSpc>
              <a:spcBef>
                <a:spcPts val="1200"/>
              </a:spcBef>
              <a:spcAft>
                <a:spcPts val="0"/>
              </a:spcAft>
              <a:buSzPct val="100000"/>
              <a:buAutoNum type="arabicPeriod"/>
            </a:pPr>
            <a:r>
              <a:rPr b="1" lang="en" sz="1100">
                <a:latin typeface="Arial"/>
                <a:ea typeface="Arial"/>
                <a:cs typeface="Arial"/>
                <a:sym typeface="Arial"/>
              </a:rPr>
              <a:t>Image Processing Branch</a:t>
            </a:r>
            <a:br>
              <a:rPr b="1" lang="en" sz="1100">
                <a:latin typeface="Arial"/>
                <a:ea typeface="Arial"/>
                <a:cs typeface="Arial"/>
                <a:sym typeface="Arial"/>
              </a:rPr>
            </a:br>
            <a:endParaRPr b="1"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Input:</a:t>
            </a:r>
            <a:r>
              <a:rPr lang="en" sz="1100">
                <a:latin typeface="Arial"/>
                <a:ea typeface="Arial"/>
                <a:cs typeface="Arial"/>
                <a:sym typeface="Arial"/>
              </a:rPr>
              <a:t> 224 × 224 × 3 RGB image</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Conv Block 1:</a:t>
            </a:r>
            <a:r>
              <a:rPr lang="en" sz="1100">
                <a:latin typeface="Arial"/>
                <a:ea typeface="Arial"/>
                <a:cs typeface="Arial"/>
                <a:sym typeface="Arial"/>
              </a:rPr>
              <a:t> Conv2D(32, 3×3) → ReLU → MaxPooling(2×2)</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Conv Block 2:</a:t>
            </a:r>
            <a:r>
              <a:rPr lang="en" sz="1100">
                <a:latin typeface="Arial"/>
                <a:ea typeface="Arial"/>
                <a:cs typeface="Arial"/>
                <a:sym typeface="Arial"/>
              </a:rPr>
              <a:t> Conv2D(64, 3×3) → ReLU → MaxPooling(2×2)</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Conv Block 3:</a:t>
            </a:r>
            <a:r>
              <a:rPr lang="en" sz="1100">
                <a:latin typeface="Arial"/>
                <a:ea typeface="Arial"/>
                <a:cs typeface="Arial"/>
                <a:sym typeface="Arial"/>
              </a:rPr>
              <a:t> Conv2D(128, 3×3) → ReLU → MaxPooling(2×2)</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Flatten</a:t>
            </a:r>
            <a:r>
              <a:rPr lang="en" sz="1100">
                <a:latin typeface="Arial"/>
                <a:ea typeface="Arial"/>
                <a:cs typeface="Arial"/>
                <a:sym typeface="Arial"/>
              </a:rPr>
              <a:t> → feature vector</a:t>
            </a:r>
            <a:br>
              <a:rPr lang="en" sz="1100">
                <a:latin typeface="Arial"/>
                <a:ea typeface="Arial"/>
                <a:cs typeface="Arial"/>
                <a:sym typeface="Arial"/>
              </a:rPr>
            </a:br>
            <a:endParaRPr sz="1100">
              <a:latin typeface="Arial"/>
              <a:ea typeface="Arial"/>
              <a:cs typeface="Arial"/>
              <a:sym typeface="Arial"/>
            </a:endParaRPr>
          </a:p>
          <a:p>
            <a:pPr indent="-282733" lvl="0" marL="457200" rtl="0" algn="l">
              <a:lnSpc>
                <a:spcPct val="115000"/>
              </a:lnSpc>
              <a:spcBef>
                <a:spcPts val="0"/>
              </a:spcBef>
              <a:spcAft>
                <a:spcPts val="0"/>
              </a:spcAft>
              <a:buSzPct val="100000"/>
              <a:buAutoNum type="arabicPeriod"/>
            </a:pPr>
            <a:r>
              <a:rPr b="1" lang="en" sz="1100">
                <a:latin typeface="Arial"/>
                <a:ea typeface="Arial"/>
                <a:cs typeface="Arial"/>
                <a:sym typeface="Arial"/>
              </a:rPr>
              <a:t>Tabular Data Branch</a:t>
            </a:r>
            <a:br>
              <a:rPr b="1" lang="en" sz="1100">
                <a:latin typeface="Arial"/>
                <a:ea typeface="Arial"/>
                <a:cs typeface="Arial"/>
                <a:sym typeface="Arial"/>
              </a:rPr>
            </a:br>
            <a:endParaRPr b="1"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Input:</a:t>
            </a:r>
            <a:r>
              <a:rPr lang="en" sz="1100">
                <a:latin typeface="Arial"/>
                <a:ea typeface="Arial"/>
                <a:cs typeface="Arial"/>
                <a:sym typeface="Arial"/>
              </a:rPr>
              <a:t> M‑dimensional vector (e.g. patient age, sex, lesion location, etc.)</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lang="en" sz="1100">
                <a:latin typeface="Arial"/>
                <a:ea typeface="Arial"/>
                <a:cs typeface="Arial"/>
                <a:sym typeface="Arial"/>
              </a:rPr>
              <a:t>Dense(64) → ReLU → Dropout(0.3)</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lang="en" sz="1100">
                <a:latin typeface="Arial"/>
                <a:ea typeface="Arial"/>
                <a:cs typeface="Arial"/>
                <a:sym typeface="Arial"/>
              </a:rPr>
              <a:t>Dense(32) → ReLU → Dropout(0.3)</a:t>
            </a:r>
            <a:br>
              <a:rPr lang="en" sz="1100">
                <a:latin typeface="Arial"/>
                <a:ea typeface="Arial"/>
                <a:cs typeface="Arial"/>
                <a:sym typeface="Arial"/>
              </a:rPr>
            </a:br>
            <a:endParaRPr sz="1100">
              <a:latin typeface="Arial"/>
              <a:ea typeface="Arial"/>
              <a:cs typeface="Arial"/>
              <a:sym typeface="Arial"/>
            </a:endParaRPr>
          </a:p>
          <a:p>
            <a:pPr indent="-282733" lvl="0" marL="457200" rtl="0" algn="l">
              <a:lnSpc>
                <a:spcPct val="115000"/>
              </a:lnSpc>
              <a:spcBef>
                <a:spcPts val="0"/>
              </a:spcBef>
              <a:spcAft>
                <a:spcPts val="0"/>
              </a:spcAft>
              <a:buSzPct val="100000"/>
              <a:buAutoNum type="arabicPeriod"/>
            </a:pPr>
            <a:r>
              <a:rPr b="1" lang="en" sz="1100">
                <a:latin typeface="Arial"/>
                <a:ea typeface="Arial"/>
                <a:cs typeface="Arial"/>
                <a:sym typeface="Arial"/>
              </a:rPr>
              <a:t>Feature Fusion &amp; Classification Head</a:t>
            </a:r>
            <a:br>
              <a:rPr b="1" lang="en" sz="1100">
                <a:latin typeface="Arial"/>
                <a:ea typeface="Arial"/>
                <a:cs typeface="Arial"/>
                <a:sym typeface="Arial"/>
              </a:rPr>
            </a:br>
            <a:endParaRPr b="1"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Concatenate</a:t>
            </a:r>
            <a:r>
              <a:rPr lang="en" sz="1100">
                <a:latin typeface="Arial"/>
                <a:ea typeface="Arial"/>
                <a:cs typeface="Arial"/>
                <a:sym typeface="Arial"/>
              </a:rPr>
              <a:t> image and tabular feature vectors</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lang="en" sz="1100">
                <a:latin typeface="Arial"/>
                <a:ea typeface="Arial"/>
                <a:cs typeface="Arial"/>
                <a:sym typeface="Arial"/>
              </a:rPr>
              <a:t>Dense(128) → ReLU → Dropout(0.5)</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lang="en" sz="1100">
                <a:latin typeface="Arial"/>
                <a:ea typeface="Arial"/>
                <a:cs typeface="Arial"/>
                <a:sym typeface="Arial"/>
              </a:rPr>
              <a:t>Dense(64) → ReLU</a:t>
            </a:r>
            <a:br>
              <a:rPr lang="en" sz="1100">
                <a:latin typeface="Arial"/>
                <a:ea typeface="Arial"/>
                <a:cs typeface="Arial"/>
                <a:sym typeface="Arial"/>
              </a:rPr>
            </a:br>
            <a:endParaRPr sz="1100">
              <a:latin typeface="Arial"/>
              <a:ea typeface="Arial"/>
              <a:cs typeface="Arial"/>
              <a:sym typeface="Arial"/>
            </a:endParaRPr>
          </a:p>
          <a:p>
            <a:pPr indent="-282733" lvl="1" marL="914400" rtl="0" algn="l">
              <a:lnSpc>
                <a:spcPct val="115000"/>
              </a:lnSpc>
              <a:spcBef>
                <a:spcPts val="0"/>
              </a:spcBef>
              <a:spcAft>
                <a:spcPts val="0"/>
              </a:spcAft>
              <a:buSzPct val="100000"/>
              <a:buChar char="○"/>
            </a:pPr>
            <a:r>
              <a:rPr b="1" lang="en" sz="1100">
                <a:latin typeface="Arial"/>
                <a:ea typeface="Arial"/>
                <a:cs typeface="Arial"/>
                <a:sym typeface="Arial"/>
              </a:rPr>
              <a:t>Output Layer:</a:t>
            </a:r>
            <a:r>
              <a:rPr lang="en" sz="1100">
                <a:latin typeface="Arial"/>
                <a:ea typeface="Arial"/>
                <a:cs typeface="Arial"/>
                <a:sym typeface="Arial"/>
              </a:rPr>
              <a:t> Dense(C) → Softmax (C = number of classes)</a:t>
            </a:r>
            <a:endParaRPr sz="1100">
              <a:latin typeface="Arial"/>
              <a:ea typeface="Arial"/>
              <a:cs typeface="Arial"/>
              <a:sym typeface="Arial"/>
            </a:endParaRPr>
          </a:p>
          <a:p>
            <a:pPr indent="-317182" lvl="0" marL="457200" rtl="0" algn="l">
              <a:lnSpc>
                <a:spcPct val="90000"/>
              </a:lnSpc>
              <a:spcBef>
                <a:spcPts val="0"/>
              </a:spcBef>
              <a:spcAft>
                <a:spcPts val="0"/>
              </a:spcAft>
              <a:buSzPct val="64285"/>
              <a:buChar char="-"/>
            </a:pPr>
            <a:r>
              <a:t/>
            </a:r>
            <a:endParaRPr/>
          </a:p>
        </p:txBody>
      </p:sp>
      <p:sp>
        <p:nvSpPr>
          <p:cNvPr id="169" name="Google Shape;169;p28"/>
          <p:cNvSpPr txBox="1"/>
          <p:nvPr/>
        </p:nvSpPr>
        <p:spPr>
          <a:xfrm>
            <a:off x="3200401" y="2228850"/>
            <a:ext cx="184800" cy="24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013">
              <a:solidFill>
                <a:schemeClr val="dk1"/>
              </a:solidFill>
              <a:latin typeface="Calibri"/>
              <a:ea typeface="Calibri"/>
              <a:cs typeface="Calibri"/>
              <a:sym typeface="Calibri"/>
            </a:endParaRPr>
          </a:p>
        </p:txBody>
      </p:sp>
      <p:sp>
        <p:nvSpPr>
          <p:cNvPr id="170" name="Google Shape;170;p28"/>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ALGORITHM AND MODEL ARCHITECTURE </a:t>
            </a:r>
            <a:endParaRPr b="1" sz="2800">
              <a:solidFill>
                <a:schemeClr val="lt1"/>
              </a:solidFill>
              <a:latin typeface="Calibri"/>
              <a:ea typeface="Calibri"/>
              <a:cs typeface="Calibri"/>
              <a:sym typeface="Calibri"/>
            </a:endParaRPr>
          </a:p>
        </p:txBody>
      </p:sp>
      <p:sp>
        <p:nvSpPr>
          <p:cNvPr id="171" name="Google Shape;171;p28"/>
          <p:cNvSpPr txBox="1"/>
          <p:nvPr/>
        </p:nvSpPr>
        <p:spPr>
          <a:xfrm>
            <a:off x="5383550" y="876750"/>
            <a:ext cx="3333900" cy="16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Training Details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Optimizer:</a:t>
            </a:r>
            <a:r>
              <a:rPr lang="en" sz="1100">
                <a:solidFill>
                  <a:schemeClr val="dk1"/>
                </a:solidFill>
              </a:rPr>
              <a:t> Adam (learning rate = 1 × 10⁻⁴)</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Loss:</a:t>
            </a:r>
            <a:r>
              <a:rPr lang="en" sz="1100">
                <a:solidFill>
                  <a:schemeClr val="dk1"/>
                </a:solidFill>
              </a:rPr>
              <a:t> Categorical Cross‑entropy</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Batch Size:</a:t>
            </a:r>
            <a:r>
              <a:rPr lang="en" sz="1100">
                <a:solidFill>
                  <a:schemeClr val="dk1"/>
                </a:solidFill>
              </a:rPr>
              <a:t> 32 </a:t>
            </a:r>
            <a:r>
              <a:rPr b="1" lang="en" sz="1100">
                <a:solidFill>
                  <a:schemeClr val="dk1"/>
                </a:solidFill>
              </a:rPr>
              <a:t>Epochs:</a:t>
            </a:r>
            <a:r>
              <a:rPr lang="en" sz="1100">
                <a:solidFill>
                  <a:schemeClr val="dk1"/>
                </a:solidFill>
              </a:rPr>
              <a:t> 20</a:t>
            </a:r>
            <a:endParaRPr sz="1100">
              <a:solidFill>
                <a:schemeClr val="dk1"/>
              </a:solidFill>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pic>
        <p:nvPicPr>
          <p:cNvPr id="172" name="Google Shape;172;p28"/>
          <p:cNvPicPr preferRelativeResize="0"/>
          <p:nvPr/>
        </p:nvPicPr>
        <p:blipFill>
          <a:blip r:embed="rId3">
            <a:alphaModFix/>
          </a:blip>
          <a:stretch>
            <a:fillRect/>
          </a:stretch>
        </p:blipFill>
        <p:spPr>
          <a:xfrm>
            <a:off x="5083525" y="2629350"/>
            <a:ext cx="3431829" cy="19855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TRAINING AND EVALUATION RESULTS </a:t>
            </a:r>
            <a:endParaRPr/>
          </a:p>
        </p:txBody>
      </p:sp>
      <p:sp>
        <p:nvSpPr>
          <p:cNvPr id="178" name="Google Shape;178;p2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79" name="Google Shape;179;p29"/>
          <p:cNvPicPr preferRelativeResize="0"/>
          <p:nvPr/>
        </p:nvPicPr>
        <p:blipFill>
          <a:blip r:embed="rId3">
            <a:alphaModFix/>
          </a:blip>
          <a:stretch>
            <a:fillRect/>
          </a:stretch>
        </p:blipFill>
        <p:spPr>
          <a:xfrm>
            <a:off x="359700" y="873825"/>
            <a:ext cx="3597476" cy="1928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359700" y="2802675"/>
            <a:ext cx="3694275" cy="2052950"/>
          </a:xfrm>
          <a:prstGeom prst="rect">
            <a:avLst/>
          </a:prstGeom>
          <a:noFill/>
          <a:ln>
            <a:noFill/>
          </a:ln>
        </p:spPr>
      </p:pic>
      <p:pic>
        <p:nvPicPr>
          <p:cNvPr id="181" name="Google Shape;181;p29"/>
          <p:cNvPicPr preferRelativeResize="0"/>
          <p:nvPr/>
        </p:nvPicPr>
        <p:blipFill>
          <a:blip r:embed="rId5">
            <a:alphaModFix/>
          </a:blip>
          <a:stretch>
            <a:fillRect/>
          </a:stretch>
        </p:blipFill>
        <p:spPr>
          <a:xfrm>
            <a:off x="4572000" y="984400"/>
            <a:ext cx="4348324" cy="3782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p:nvPr/>
        </p:nvSpPr>
        <p:spPr>
          <a:xfrm>
            <a:off x="4094144" y="2459219"/>
            <a:ext cx="955800" cy="225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350">
                <a:solidFill>
                  <a:srgbClr val="FFFFFF"/>
                </a:solidFill>
                <a:latin typeface="Calibri"/>
                <a:ea typeface="Calibri"/>
                <a:cs typeface="Calibri"/>
                <a:sym typeface="Calibri"/>
              </a:rPr>
              <a:t>Conclusion</a:t>
            </a:r>
            <a:endParaRPr sz="1350">
              <a:solidFill>
                <a:schemeClr val="dk1"/>
              </a:solidFill>
              <a:latin typeface="Calibri"/>
              <a:ea typeface="Calibri"/>
              <a:cs typeface="Calibri"/>
              <a:sym typeface="Calibri"/>
            </a:endParaRPr>
          </a:p>
        </p:txBody>
      </p:sp>
      <p:sp>
        <p:nvSpPr>
          <p:cNvPr id="187" name="Google Shape;187;p30"/>
          <p:cNvSpPr txBox="1"/>
          <p:nvPr/>
        </p:nvSpPr>
        <p:spPr>
          <a:xfrm>
            <a:off x="628650" y="22547"/>
            <a:ext cx="6536100" cy="653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MODEL RESULTS</a:t>
            </a:r>
            <a:endParaRPr/>
          </a:p>
        </p:txBody>
      </p:sp>
      <p:sp>
        <p:nvSpPr>
          <p:cNvPr id="188" name="Google Shape;188;p3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189" name="Google Shape;189;p30" title="Recording 2025-05-03 144005.mp4">
            <a:hlinkClick r:id="rId3"/>
          </p:cNvPr>
          <p:cNvPicPr preferRelativeResize="0"/>
          <p:nvPr/>
        </p:nvPicPr>
        <p:blipFill>
          <a:blip r:embed="rId4">
            <a:alphaModFix/>
          </a:blip>
          <a:stretch>
            <a:fillRect/>
          </a:stretch>
        </p:blipFill>
        <p:spPr>
          <a:xfrm>
            <a:off x="1398475" y="857250"/>
            <a:ext cx="6347050" cy="3966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 type="body"/>
          </p:nvPr>
        </p:nvSpPr>
        <p:spPr>
          <a:xfrm>
            <a:off x="628650" y="857250"/>
            <a:ext cx="7108200" cy="4067100"/>
          </a:xfrm>
          <a:prstGeom prst="rect">
            <a:avLst/>
          </a:prstGeom>
          <a:noFill/>
          <a:ln>
            <a:noFill/>
          </a:ln>
        </p:spPr>
        <p:txBody>
          <a:bodyPr anchorCtr="0" anchor="t" bIns="45700" lIns="91425" spcFirstLastPara="1" rIns="91425" wrap="square" tIns="45700">
            <a:normAutofit fontScale="62500"/>
          </a:bodyPr>
          <a:lstStyle/>
          <a:p>
            <a:pPr indent="0" lvl="0" marL="0" rtl="0" algn="l">
              <a:lnSpc>
                <a:spcPct val="90000"/>
              </a:lnSpc>
              <a:spcBef>
                <a:spcPts val="0"/>
              </a:spcBef>
              <a:spcAft>
                <a:spcPts val="0"/>
              </a:spcAft>
              <a:buNone/>
            </a:pPr>
            <a:r>
              <a:rPr b="1" lang="en">
                <a:latin typeface="Arial"/>
                <a:ea typeface="Arial"/>
                <a:cs typeface="Arial"/>
                <a:sym typeface="Arial"/>
              </a:rPr>
              <a:t>Conclusion</a:t>
            </a:r>
            <a:endParaRPr b="1">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Successfully built a skin lesion classification model</a:t>
            </a:r>
            <a:endParaRPr>
              <a:latin typeface="Arial"/>
              <a:ea typeface="Arial"/>
              <a:cs typeface="Arial"/>
              <a:sym typeface="Arial"/>
            </a:endParaRPr>
          </a:p>
          <a:p>
            <a:pPr indent="0" lvl="0" marL="45720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Used both image and metadata for improved accuracy</a:t>
            </a:r>
            <a:endParaRPr>
              <a:latin typeface="Arial"/>
              <a:ea typeface="Arial"/>
              <a:cs typeface="Arial"/>
              <a:sym typeface="Arial"/>
            </a:endParaRPr>
          </a:p>
          <a:p>
            <a:pPr indent="0" lvl="0" marL="45720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Addressed key challenges like data imbalance and input diversity</a:t>
            </a:r>
            <a:endParaRPr>
              <a:latin typeface="Arial"/>
              <a:ea typeface="Arial"/>
              <a:cs typeface="Arial"/>
              <a:sym typeface="Arial"/>
            </a:endParaRPr>
          </a:p>
          <a:p>
            <a:pPr indent="0" lvl="0" marL="457200" rtl="0" algn="l">
              <a:lnSpc>
                <a:spcPct val="90000"/>
              </a:lnSpc>
              <a:spcBef>
                <a:spcPts val="0"/>
              </a:spcBef>
              <a:spcAft>
                <a:spcPts val="0"/>
              </a:spcAft>
              <a:buNone/>
            </a:pPr>
            <a:r>
              <a:t/>
            </a:r>
            <a:endParaRPr>
              <a:latin typeface="Arial"/>
              <a:ea typeface="Arial"/>
              <a:cs typeface="Arial"/>
              <a:sym typeface="Arial"/>
            </a:endParaRPr>
          </a:p>
          <a:p>
            <a:pPr indent="0" lvl="0" marL="0" rtl="0" algn="l">
              <a:lnSpc>
                <a:spcPct val="90000"/>
              </a:lnSpc>
              <a:spcBef>
                <a:spcPts val="0"/>
              </a:spcBef>
              <a:spcAft>
                <a:spcPts val="0"/>
              </a:spcAft>
              <a:buNone/>
            </a:pPr>
            <a:r>
              <a:rPr b="1" lang="en">
                <a:latin typeface="Arial"/>
                <a:ea typeface="Arial"/>
                <a:cs typeface="Arial"/>
                <a:sym typeface="Arial"/>
              </a:rPr>
              <a:t>Future Work</a:t>
            </a:r>
            <a:endParaRPr>
              <a:latin typeface="Arial"/>
              <a:ea typeface="Arial"/>
              <a:cs typeface="Arial"/>
              <a:sym typeface="Arial"/>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Train with larger, more diverse datasets (e.g., ISIC Archive)</a:t>
            </a:r>
            <a:endParaRPr>
              <a:latin typeface="Arial"/>
              <a:ea typeface="Arial"/>
              <a:cs typeface="Arial"/>
              <a:sym typeface="Arial"/>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Improve the Grad-CAM so that it </a:t>
            </a:r>
            <a:r>
              <a:rPr lang="en">
                <a:latin typeface="Arial"/>
                <a:ea typeface="Arial"/>
                <a:cs typeface="Arial"/>
                <a:sym typeface="Arial"/>
              </a:rPr>
              <a:t>detected</a:t>
            </a:r>
            <a:r>
              <a:rPr lang="en">
                <a:latin typeface="Arial"/>
                <a:ea typeface="Arial"/>
                <a:cs typeface="Arial"/>
                <a:sym typeface="Arial"/>
              </a:rPr>
              <a:t> better the skin lesion</a:t>
            </a:r>
            <a:endParaRPr>
              <a:latin typeface="Arial"/>
              <a:ea typeface="Arial"/>
              <a:cs typeface="Arial"/>
              <a:sym typeface="Arial"/>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Improve performance with pre-trained models like EfficientNet</a:t>
            </a:r>
            <a:endParaRPr>
              <a:latin typeface="Arial"/>
              <a:ea typeface="Arial"/>
              <a:cs typeface="Arial"/>
              <a:sym typeface="Arial"/>
            </a:endParaRPr>
          </a:p>
          <a:p>
            <a:pPr indent="0" lvl="0" marL="457200" rtl="0" algn="l">
              <a:lnSpc>
                <a:spcPct val="90000"/>
              </a:lnSpc>
              <a:spcBef>
                <a:spcPts val="0"/>
              </a:spcBef>
              <a:spcAft>
                <a:spcPts val="0"/>
              </a:spcAft>
              <a:buNone/>
            </a:pPr>
            <a:r>
              <a:t/>
            </a:r>
            <a:endParaRPr>
              <a:latin typeface="Arial"/>
              <a:ea typeface="Arial"/>
              <a:cs typeface="Arial"/>
              <a:sym typeface="Arial"/>
            </a:endParaRPr>
          </a:p>
          <a:p>
            <a:pPr indent="-300037" lvl="0" marL="457200" rtl="0" algn="l">
              <a:lnSpc>
                <a:spcPct val="90000"/>
              </a:lnSpc>
              <a:spcBef>
                <a:spcPts val="0"/>
              </a:spcBef>
              <a:spcAft>
                <a:spcPts val="0"/>
              </a:spcAft>
              <a:buSzPct val="64285"/>
              <a:buChar char="-"/>
            </a:pPr>
            <a:r>
              <a:rPr lang="en">
                <a:latin typeface="Arial"/>
                <a:ea typeface="Arial"/>
                <a:cs typeface="Arial"/>
                <a:sym typeface="Arial"/>
              </a:rPr>
              <a:t>Create a executable file so it’s easier to use for everyone </a:t>
            </a:r>
            <a:endParaRPr>
              <a:latin typeface="Arial"/>
              <a:ea typeface="Arial"/>
              <a:cs typeface="Arial"/>
              <a:sym typeface="Arial"/>
            </a:endParaRPr>
          </a:p>
        </p:txBody>
      </p:sp>
      <p:sp>
        <p:nvSpPr>
          <p:cNvPr id="195" name="Google Shape;195;p31"/>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CONCLUSION &amp; FUTURE WORK</a:t>
            </a:r>
            <a:endParaRPr/>
          </a:p>
        </p:txBody>
      </p:sp>
      <p:sp>
        <p:nvSpPr>
          <p:cNvPr id="196" name="Google Shape;196;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idx="1" type="body"/>
          </p:nvPr>
        </p:nvSpPr>
        <p:spPr>
          <a:xfrm>
            <a:off x="628650" y="981221"/>
            <a:ext cx="7886700" cy="3646574"/>
          </a:xfrm>
          <a:prstGeom prst="rect">
            <a:avLst/>
          </a:prstGeom>
          <a:noFill/>
          <a:ln>
            <a:noFill/>
          </a:ln>
        </p:spPr>
        <p:txBody>
          <a:bodyPr anchorCtr="0" anchor="t" bIns="45700" lIns="91425" spcFirstLastPara="1" rIns="91425" wrap="square" tIns="45700">
            <a:noAutofit/>
          </a:bodyPr>
          <a:lstStyle/>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Melanoma Research Alliance. (2024). 100,000 Americans are estimated to be diagnosed with invasive melanoma in 2024. CureMelanoma.org. https://www.curemelanoma.org/blog/100000-americans-estimated-to-be-diagnosed-with-invasive-melanoma-in-2024</a:t>
            </a:r>
            <a:endParaRPr sz="1400">
              <a:highlight>
                <a:srgbClr val="FFFFFF"/>
              </a:highlight>
              <a:latin typeface="Times New Roman"/>
              <a:ea typeface="Times New Roman"/>
              <a:cs typeface="Times New Roman"/>
              <a:sym typeface="Times New Roman"/>
            </a:endParaRPr>
          </a:p>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Najita, J. S., Chen, M. H., McMillan, B., Stampfer, M. J., Kantoff, P. W., &amp; Sweeney, C. J. (2012). Misdiagnosis of melanoma and its impact on patient outcomes: A retrospective study. National Library of Medicine (PMC). https://pmc.ncbi.nlm.nih.gov/articles/PMC5265802/</a:t>
            </a:r>
            <a:endParaRPr sz="1400">
              <a:highlight>
                <a:srgbClr val="FFFFFF"/>
              </a:highlight>
              <a:latin typeface="Times New Roman"/>
              <a:ea typeface="Times New Roman"/>
              <a:cs typeface="Times New Roman"/>
              <a:sym typeface="Times New Roman"/>
            </a:endParaRPr>
          </a:p>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Centers for Disease Control and Prevention, “Skin Cancer,” CDC, Feb. 22, 2024. [Online]. Available:</a:t>
            </a:r>
            <a:r>
              <a:rPr lang="en" sz="1400">
                <a:highlight>
                  <a:srgbClr val="FFFFFF"/>
                </a:highlight>
                <a:uFill>
                  <a:noFill/>
                </a:uFill>
                <a:latin typeface="Times New Roman"/>
                <a:ea typeface="Times New Roman"/>
                <a:cs typeface="Times New Roman"/>
                <a:sym typeface="Times New Roman"/>
                <a:hlinkClick r:id="rId3"/>
              </a:rPr>
              <a:t> </a:t>
            </a:r>
            <a:r>
              <a:rPr lang="en" sz="1400">
                <a:highlight>
                  <a:srgbClr val="FFFFFF"/>
                </a:highlight>
                <a:latin typeface="Times New Roman"/>
                <a:ea typeface="Times New Roman"/>
                <a:cs typeface="Times New Roman"/>
                <a:sym typeface="Times New Roman"/>
              </a:rPr>
              <a:t>https://www.cdc.gov/nccdphp/priorities/skin-cancer.html</a:t>
            </a:r>
            <a:endParaRPr sz="1400">
              <a:highlight>
                <a:srgbClr val="FFFFFF"/>
              </a:highlight>
              <a:latin typeface="Times New Roman"/>
              <a:ea typeface="Times New Roman"/>
              <a:cs typeface="Times New Roman"/>
              <a:sym typeface="Times New Roman"/>
            </a:endParaRPr>
          </a:p>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Azeem M, Kiani K, Mansouri T, Topping N. SkinLesNet: Classification of Skin Lesions and Detection of Melanoma Cancer Using a Novel Multi-Layer Deep Convolutional Neural Network. Cancers (Basel). 2023 Dec 24;16(1):108. doi: 10.3390/cancers16010108. PMID: 38201535; PMCID: PMC10778045.</a:t>
            </a:r>
            <a:endParaRPr sz="1400">
              <a:highlight>
                <a:srgbClr val="FFFFFF"/>
              </a:highlight>
              <a:latin typeface="Times New Roman"/>
              <a:ea typeface="Times New Roman"/>
              <a:cs typeface="Times New Roman"/>
              <a:sym typeface="Times New Roman"/>
            </a:endParaRPr>
          </a:p>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Rahman, M. M., &amp; Smith, J. A. (2023). A comprehensive evaluation study on risk level classification of melanoma by computer vision on ISIC 2016-2020 datasets. ArXiv Preprint. https://arxiv.org/abs/2302.09528</a:t>
            </a:r>
            <a:endParaRPr sz="1400">
              <a:highlight>
                <a:srgbClr val="FFFFFF"/>
              </a:highlight>
              <a:latin typeface="Times New Roman"/>
              <a:ea typeface="Times New Roman"/>
              <a:cs typeface="Times New Roman"/>
              <a:sym typeface="Times New Roman"/>
            </a:endParaRPr>
          </a:p>
          <a:p>
            <a:pPr indent="-317500" lvl="0" marL="228600" rtl="0" algn="just">
              <a:lnSpc>
                <a:spcPct val="100000"/>
              </a:lnSpc>
              <a:spcBef>
                <a:spcPts val="0"/>
              </a:spcBef>
              <a:spcAft>
                <a:spcPts val="0"/>
              </a:spcAft>
              <a:buSzPts val="1400"/>
              <a:buFont typeface="Times New Roman"/>
              <a:buAutoNum type="arabicPeriod"/>
            </a:pPr>
            <a:r>
              <a:rPr lang="en" sz="1400">
                <a:highlight>
                  <a:srgbClr val="FFFFFF"/>
                </a:highlight>
                <a:latin typeface="Times New Roman"/>
                <a:ea typeface="Times New Roman"/>
                <a:cs typeface="Times New Roman"/>
                <a:sym typeface="Times New Roman"/>
              </a:rPr>
              <a:t>Chen, L., Patel, S., &amp; Gupta, R. (2024). Enhanced skin cancer diagnosis using optimized CNN architecture. BMC Medical Imaging, 24(1), 56. https://doi.org/10.1186/s12880-024-01356-8</a:t>
            </a:r>
            <a:endParaRPr sz="3400"/>
          </a:p>
        </p:txBody>
      </p:sp>
      <p:sp>
        <p:nvSpPr>
          <p:cNvPr id="202" name="Google Shape;202;p32"/>
          <p:cNvSpPr txBox="1"/>
          <p:nvPr/>
        </p:nvSpPr>
        <p:spPr>
          <a:xfrm>
            <a:off x="628650" y="22547"/>
            <a:ext cx="6536079" cy="6531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2800"/>
              <a:buFont typeface="Calibri"/>
              <a:buNone/>
            </a:pPr>
            <a:r>
              <a:rPr b="1" lang="en" sz="2800">
                <a:solidFill>
                  <a:schemeClr val="lt1"/>
                </a:solidFill>
                <a:latin typeface="Calibri"/>
                <a:ea typeface="Calibri"/>
                <a:cs typeface="Calibri"/>
                <a:sym typeface="Calibri"/>
              </a:rPr>
              <a:t>REFERENCES</a:t>
            </a:r>
            <a:endParaRPr/>
          </a:p>
        </p:txBody>
      </p:sp>
      <p:sp>
        <p:nvSpPr>
          <p:cNvPr id="203" name="Google Shape;203;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3"/>
          <p:cNvSpPr txBox="1"/>
          <p:nvPr/>
        </p:nvSpPr>
        <p:spPr>
          <a:xfrm>
            <a:off x="5688672" y="1914746"/>
            <a:ext cx="2911715" cy="120285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Questions</a:t>
            </a:r>
            <a:endParaRPr sz="4400">
              <a:solidFill>
                <a:schemeClr val="dk1"/>
              </a:solidFill>
              <a:latin typeface="Calibri"/>
              <a:ea typeface="Calibri"/>
              <a:cs typeface="Calibri"/>
              <a:sym typeface="Calibri"/>
            </a:endParaRPr>
          </a:p>
        </p:txBody>
      </p:sp>
      <p:sp>
        <p:nvSpPr>
          <p:cNvPr id="210" name="Google Shape;210;p33"/>
          <p:cNvSpPr txBox="1"/>
          <p:nvPr/>
        </p:nvSpPr>
        <p:spPr>
          <a:xfrm>
            <a:off x="1921825" y="1914750"/>
            <a:ext cx="3059100" cy="8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4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